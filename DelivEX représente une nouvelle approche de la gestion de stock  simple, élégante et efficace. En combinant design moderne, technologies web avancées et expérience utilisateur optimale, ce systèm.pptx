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8288000" cy="10287000"/>
  <p:notesSz cx="6858000" cy="9144000"/>
  <p:embeddedFontLst>
    <p:embeddedFont>
      <p:font typeface="Garet Bold" panose="020B0604020202020204" charset="0"/>
      <p:regular r:id="rId15"/>
    </p:embeddedFont>
    <p:embeddedFont>
      <p:font typeface="Inter" panose="020B0604020202020204" charset="0"/>
      <p:regular r:id="rId16"/>
    </p:embeddedFont>
    <p:embeddedFont>
      <p:font typeface="Inter Italic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1" d="100"/>
          <a:sy n="31" d="100"/>
        </p:scale>
        <p:origin x="1042"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2.sv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20.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415274" y="3703559"/>
            <a:ext cx="9115816" cy="9149085"/>
          </a:xfrm>
          <a:custGeom>
            <a:avLst/>
            <a:gdLst/>
            <a:ahLst/>
            <a:cxnLst/>
            <a:rect l="l" t="t" r="r" b="b"/>
            <a:pathLst>
              <a:path w="9115816" h="9149085">
                <a:moveTo>
                  <a:pt x="0" y="0"/>
                </a:moveTo>
                <a:lnTo>
                  <a:pt x="9115815" y="0"/>
                </a:lnTo>
                <a:lnTo>
                  <a:pt x="9115815" y="9149085"/>
                </a:lnTo>
                <a:lnTo>
                  <a:pt x="0" y="91490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66961">
            <a:off x="14101025" y="3764389"/>
            <a:ext cx="6316550" cy="7207681"/>
          </a:xfrm>
          <a:custGeom>
            <a:avLst/>
            <a:gdLst/>
            <a:ahLst/>
            <a:cxnLst/>
            <a:rect l="l" t="t" r="r" b="b"/>
            <a:pathLst>
              <a:path w="6316550" h="7207681">
                <a:moveTo>
                  <a:pt x="0" y="0"/>
                </a:moveTo>
                <a:lnTo>
                  <a:pt x="6316550" y="0"/>
                </a:lnTo>
                <a:lnTo>
                  <a:pt x="6316550" y="7207681"/>
                </a:lnTo>
                <a:lnTo>
                  <a:pt x="0" y="7207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36528">
            <a:off x="8246275" y="3766692"/>
            <a:ext cx="3261914" cy="4114800"/>
          </a:xfrm>
          <a:custGeom>
            <a:avLst/>
            <a:gdLst/>
            <a:ahLst/>
            <a:cxnLst/>
            <a:rect l="l" t="t" r="r" b="b"/>
            <a:pathLst>
              <a:path w="3261914" h="4114800">
                <a:moveTo>
                  <a:pt x="0" y="0"/>
                </a:moveTo>
                <a:lnTo>
                  <a:pt x="3261915" y="0"/>
                </a:lnTo>
                <a:lnTo>
                  <a:pt x="326191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6815861" y="952500"/>
            <a:ext cx="4656278" cy="589915"/>
          </a:xfrm>
          <a:prstGeom prst="rect">
            <a:avLst/>
          </a:prstGeom>
        </p:spPr>
        <p:txBody>
          <a:bodyPr lIns="0" tIns="0" rIns="0" bIns="0" rtlCol="0" anchor="t">
            <a:spAutoFit/>
          </a:bodyPr>
          <a:lstStyle/>
          <a:p>
            <a:pPr algn="ctr">
              <a:lnSpc>
                <a:spcPts val="4759"/>
              </a:lnSpc>
              <a:spcBef>
                <a:spcPct val="0"/>
              </a:spcBef>
            </a:pPr>
            <a:r>
              <a:rPr lang="en-US" sz="3399">
                <a:solidFill>
                  <a:srgbClr val="F1EEEA"/>
                </a:solidFill>
                <a:latin typeface="Inter"/>
                <a:ea typeface="Inter"/>
                <a:cs typeface="Inter"/>
                <a:sym typeface="Inter"/>
              </a:rPr>
              <a:t>Understanding The</a:t>
            </a:r>
          </a:p>
        </p:txBody>
      </p:sp>
      <p:sp>
        <p:nvSpPr>
          <p:cNvPr id="6" name="TextBox 6"/>
          <p:cNvSpPr txBox="1"/>
          <p:nvPr/>
        </p:nvSpPr>
        <p:spPr>
          <a:xfrm>
            <a:off x="3921723" y="8211426"/>
            <a:ext cx="11911018" cy="1862150"/>
          </a:xfrm>
          <a:prstGeom prst="rect">
            <a:avLst/>
          </a:prstGeom>
        </p:spPr>
        <p:txBody>
          <a:bodyPr lIns="0" tIns="0" rIns="0" bIns="0" rtlCol="0" anchor="t">
            <a:spAutoFit/>
          </a:bodyPr>
          <a:lstStyle/>
          <a:p>
            <a:pPr algn="ctr">
              <a:lnSpc>
                <a:spcPts val="4986"/>
              </a:lnSpc>
            </a:pPr>
            <a:r>
              <a:rPr lang="en-US" sz="3561" dirty="0">
                <a:solidFill>
                  <a:srgbClr val="F1EEEA"/>
                </a:solidFill>
                <a:latin typeface="Inter"/>
                <a:ea typeface="Inter"/>
                <a:cs typeface="Inter"/>
                <a:sym typeface="Inter"/>
              </a:rPr>
              <a:t>Presenter Par : </a:t>
            </a:r>
            <a:r>
              <a:rPr lang="en-US" sz="3561" dirty="0" err="1">
                <a:solidFill>
                  <a:srgbClr val="F1EEEA"/>
                </a:solidFill>
                <a:latin typeface="Inter"/>
                <a:ea typeface="Inter"/>
                <a:cs typeface="Inter"/>
                <a:sym typeface="Inter"/>
              </a:rPr>
              <a:t>Abdessamia</a:t>
            </a:r>
            <a:r>
              <a:rPr lang="en-US" sz="3561" dirty="0">
                <a:solidFill>
                  <a:srgbClr val="F1EEEA"/>
                </a:solidFill>
                <a:latin typeface="Inter"/>
                <a:ea typeface="Inter"/>
                <a:cs typeface="Inter"/>
                <a:sym typeface="Inter"/>
              </a:rPr>
              <a:t> </a:t>
            </a:r>
            <a:r>
              <a:rPr lang="en-US" sz="3561" dirty="0" err="1">
                <a:solidFill>
                  <a:srgbClr val="F1EEEA"/>
                </a:solidFill>
                <a:latin typeface="Inter"/>
                <a:ea typeface="Inter"/>
                <a:cs typeface="Inter"/>
                <a:sym typeface="Inter"/>
              </a:rPr>
              <a:t>Kemmach</a:t>
            </a:r>
            <a:endParaRPr lang="en-US" sz="3561" dirty="0">
              <a:solidFill>
                <a:srgbClr val="F1EEEA"/>
              </a:solidFill>
              <a:latin typeface="Inter"/>
              <a:ea typeface="Inter"/>
              <a:cs typeface="Inter"/>
              <a:sym typeface="Inter"/>
            </a:endParaRPr>
          </a:p>
          <a:p>
            <a:pPr algn="ctr">
              <a:lnSpc>
                <a:spcPts val="4986"/>
              </a:lnSpc>
            </a:pPr>
            <a:r>
              <a:rPr lang="en-US" sz="3561" dirty="0">
                <a:solidFill>
                  <a:srgbClr val="F1EEEA"/>
                </a:solidFill>
                <a:latin typeface="Inter"/>
                <a:ea typeface="Inter"/>
                <a:cs typeface="Inter"/>
                <a:sym typeface="Inter"/>
              </a:rPr>
              <a:t>Mahdi Nabil</a:t>
            </a:r>
          </a:p>
          <a:p>
            <a:pPr algn="ctr">
              <a:lnSpc>
                <a:spcPts val="4986"/>
              </a:lnSpc>
              <a:spcBef>
                <a:spcPct val="0"/>
              </a:spcBef>
            </a:pPr>
            <a:r>
              <a:rPr lang="en-US" sz="3561" dirty="0">
                <a:solidFill>
                  <a:srgbClr val="F1EEEA"/>
                </a:solidFill>
                <a:latin typeface="Inter"/>
                <a:ea typeface="Inter"/>
                <a:cs typeface="Inter"/>
                <a:sym typeface="Inter"/>
              </a:rPr>
              <a:t>Alaa </a:t>
            </a:r>
            <a:r>
              <a:rPr lang="en-US" sz="3561" dirty="0" err="1">
                <a:solidFill>
                  <a:srgbClr val="F1EEEA"/>
                </a:solidFill>
                <a:latin typeface="Inter"/>
                <a:ea typeface="Inter"/>
                <a:cs typeface="Inter"/>
                <a:sym typeface="Inter"/>
              </a:rPr>
              <a:t>Berguigua</a:t>
            </a:r>
            <a:endParaRPr lang="en-US" sz="3561" dirty="0">
              <a:solidFill>
                <a:srgbClr val="F1EEEA"/>
              </a:solidFill>
              <a:latin typeface="Inter"/>
              <a:ea typeface="Inter"/>
              <a:cs typeface="Inter"/>
              <a:sym typeface="Inter"/>
            </a:endParaRPr>
          </a:p>
        </p:txBody>
      </p:sp>
      <p:sp>
        <p:nvSpPr>
          <p:cNvPr id="7" name="TextBox 7"/>
          <p:cNvSpPr txBox="1"/>
          <p:nvPr/>
        </p:nvSpPr>
        <p:spPr>
          <a:xfrm>
            <a:off x="2415329" y="1228090"/>
            <a:ext cx="13457341" cy="2752483"/>
          </a:xfrm>
          <a:prstGeom prst="rect">
            <a:avLst/>
          </a:prstGeom>
        </p:spPr>
        <p:txBody>
          <a:bodyPr lIns="0" tIns="0" rIns="0" bIns="0" rtlCol="0" anchor="t">
            <a:spAutoFit/>
          </a:bodyPr>
          <a:lstStyle/>
          <a:p>
            <a:pPr marL="0" lvl="0" indent="0" algn="ctr">
              <a:lnSpc>
                <a:spcPts val="22410"/>
              </a:lnSpc>
              <a:spcBef>
                <a:spcPct val="0"/>
              </a:spcBef>
            </a:pPr>
            <a:r>
              <a:rPr lang="en-US" sz="16007" b="1" spc="-1040">
                <a:solidFill>
                  <a:srgbClr val="F1EEEA"/>
                </a:solidFill>
                <a:latin typeface="Garet Bold"/>
                <a:ea typeface="Garet Bold"/>
                <a:cs typeface="Garet Bold"/>
                <a:sym typeface="Garet Bold"/>
              </a:rPr>
              <a:t>DelivEX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EEA"/>
        </a:solidFill>
        <a:effectLst/>
      </p:bgPr>
    </p:bg>
    <p:spTree>
      <p:nvGrpSpPr>
        <p:cNvPr id="1" name=""/>
        <p:cNvGrpSpPr/>
        <p:nvPr/>
      </p:nvGrpSpPr>
      <p:grpSpPr>
        <a:xfrm>
          <a:off x="0" y="0"/>
          <a:ext cx="0" cy="0"/>
          <a:chOff x="0" y="0"/>
          <a:chExt cx="0" cy="0"/>
        </a:xfrm>
      </p:grpSpPr>
      <p:sp>
        <p:nvSpPr>
          <p:cNvPr id="2" name="Freeform 2"/>
          <p:cNvSpPr/>
          <p:nvPr/>
        </p:nvSpPr>
        <p:spPr>
          <a:xfrm rot="237971">
            <a:off x="13922698" y="1218708"/>
            <a:ext cx="5650291" cy="4509960"/>
          </a:xfrm>
          <a:custGeom>
            <a:avLst/>
            <a:gdLst/>
            <a:ahLst/>
            <a:cxnLst/>
            <a:rect l="l" t="t" r="r" b="b"/>
            <a:pathLst>
              <a:path w="5650291" h="4509960">
                <a:moveTo>
                  <a:pt x="0" y="0"/>
                </a:moveTo>
                <a:lnTo>
                  <a:pt x="5650291" y="0"/>
                </a:lnTo>
                <a:lnTo>
                  <a:pt x="5650291" y="4509960"/>
                </a:lnTo>
                <a:lnTo>
                  <a:pt x="0" y="45099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1159988" y="5722629"/>
            <a:ext cx="5227008" cy="5246085"/>
          </a:xfrm>
          <a:custGeom>
            <a:avLst/>
            <a:gdLst/>
            <a:ahLst/>
            <a:cxnLst/>
            <a:rect l="l" t="t" r="r" b="b"/>
            <a:pathLst>
              <a:path w="5227008" h="5246085">
                <a:moveTo>
                  <a:pt x="0" y="0"/>
                </a:moveTo>
                <a:lnTo>
                  <a:pt x="5227008" y="0"/>
                </a:lnTo>
                <a:lnTo>
                  <a:pt x="5227008" y="5246085"/>
                </a:lnTo>
                <a:lnTo>
                  <a:pt x="0" y="5246085"/>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4" name="Freeform 4"/>
          <p:cNvSpPr/>
          <p:nvPr/>
        </p:nvSpPr>
        <p:spPr>
          <a:xfrm rot="-489537">
            <a:off x="9945800" y="797355"/>
            <a:ext cx="3553691" cy="4114800"/>
          </a:xfrm>
          <a:custGeom>
            <a:avLst/>
            <a:gdLst/>
            <a:ahLst/>
            <a:cxnLst/>
            <a:rect l="l" t="t" r="r" b="b"/>
            <a:pathLst>
              <a:path w="3553691" h="4114800">
                <a:moveTo>
                  <a:pt x="0" y="0"/>
                </a:moveTo>
                <a:lnTo>
                  <a:pt x="3553691" y="0"/>
                </a:lnTo>
                <a:lnTo>
                  <a:pt x="355369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243290" y="4323475"/>
            <a:ext cx="10916698" cy="4377169"/>
          </a:xfrm>
          <a:prstGeom prst="rect">
            <a:avLst/>
          </a:prstGeom>
        </p:spPr>
        <p:txBody>
          <a:bodyPr lIns="0" tIns="0" rIns="0" bIns="0" rtlCol="0" anchor="t">
            <a:spAutoFit/>
          </a:bodyPr>
          <a:lstStyle/>
          <a:p>
            <a:pPr algn="l">
              <a:lnSpc>
                <a:spcPts val="4963"/>
              </a:lnSpc>
              <a:spcBef>
                <a:spcPct val="0"/>
              </a:spcBef>
            </a:pPr>
            <a:r>
              <a:rPr lang="en-US" sz="3545" i="1">
                <a:solidFill>
                  <a:srgbClr val="171717"/>
                </a:solidFill>
                <a:latin typeface="Inter Italics"/>
                <a:ea typeface="Inter Italics"/>
                <a:cs typeface="Inter Italics"/>
                <a:sym typeface="Inter Italics"/>
              </a:rPr>
              <a:t>DelivEX est une application web moderne de gestion de stock conçue pour les petites et moyennes entreprises. Face aux défis de la gestion d'inventaire traditionnelle, ce système offre une solution intuitive, accessible et complète, fonctionnant entièrement dans le navigateur sans nécessiter d'installation ni de serveur.</a:t>
            </a:r>
          </a:p>
        </p:txBody>
      </p:sp>
      <p:sp>
        <p:nvSpPr>
          <p:cNvPr id="6" name="TextBox 6"/>
          <p:cNvSpPr txBox="1"/>
          <p:nvPr/>
        </p:nvSpPr>
        <p:spPr>
          <a:xfrm>
            <a:off x="0" y="1804693"/>
            <a:ext cx="10119029" cy="1668995"/>
          </a:xfrm>
          <a:prstGeom prst="rect">
            <a:avLst/>
          </a:prstGeom>
        </p:spPr>
        <p:txBody>
          <a:bodyPr lIns="0" tIns="0" rIns="0" bIns="0" rtlCol="0" anchor="t">
            <a:spAutoFit/>
          </a:bodyPr>
          <a:lstStyle/>
          <a:p>
            <a:pPr marL="0" lvl="0" indent="0" algn="l">
              <a:lnSpc>
                <a:spcPts val="12399"/>
              </a:lnSpc>
            </a:pPr>
            <a:r>
              <a:rPr lang="en-US" sz="13052" b="1" spc="-848">
                <a:solidFill>
                  <a:srgbClr val="171717"/>
                </a:solidFill>
                <a:latin typeface="Garet Bold"/>
                <a:ea typeface="Garet Bold"/>
                <a:cs typeface="Garet Bold"/>
                <a:sym typeface="Garet Bold"/>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rot="169389">
            <a:off x="5447304" y="-2354"/>
            <a:ext cx="3306803" cy="4114800"/>
          </a:xfrm>
          <a:custGeom>
            <a:avLst/>
            <a:gdLst/>
            <a:ahLst/>
            <a:cxnLst/>
            <a:rect l="l" t="t" r="r" b="b"/>
            <a:pathLst>
              <a:path w="3306803" h="4114800">
                <a:moveTo>
                  <a:pt x="0" y="0"/>
                </a:moveTo>
                <a:lnTo>
                  <a:pt x="3306803" y="0"/>
                </a:lnTo>
                <a:lnTo>
                  <a:pt x="330680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802736" y="0"/>
            <a:ext cx="9485264" cy="10455893"/>
          </a:xfrm>
          <a:custGeom>
            <a:avLst/>
            <a:gdLst/>
            <a:ahLst/>
            <a:cxnLst/>
            <a:rect l="l" t="t" r="r" b="b"/>
            <a:pathLst>
              <a:path w="9485264" h="10455893">
                <a:moveTo>
                  <a:pt x="0" y="0"/>
                </a:moveTo>
                <a:lnTo>
                  <a:pt x="9485264" y="0"/>
                </a:lnTo>
                <a:lnTo>
                  <a:pt x="9485264" y="10455893"/>
                </a:lnTo>
                <a:lnTo>
                  <a:pt x="0" y="10455893"/>
                </a:lnTo>
                <a:lnTo>
                  <a:pt x="0" y="0"/>
                </a:lnTo>
                <a:close/>
              </a:path>
            </a:pathLst>
          </a:custGeom>
          <a:blipFill>
            <a:blip r:embed="rId4"/>
            <a:stretch>
              <a:fillRect l="-388" r="-388" b="-5902"/>
            </a:stretch>
          </a:blipFill>
        </p:spPr>
        <p:txBody>
          <a:bodyPr/>
          <a:lstStyle/>
          <a:p>
            <a:endParaRPr lang="en-US"/>
          </a:p>
        </p:txBody>
      </p:sp>
      <p:sp>
        <p:nvSpPr>
          <p:cNvPr id="4" name="TextBox 4"/>
          <p:cNvSpPr txBox="1"/>
          <p:nvPr/>
        </p:nvSpPr>
        <p:spPr>
          <a:xfrm>
            <a:off x="213595" y="1343025"/>
            <a:ext cx="8930405" cy="1671721"/>
          </a:xfrm>
          <a:prstGeom prst="rect">
            <a:avLst/>
          </a:prstGeom>
        </p:spPr>
        <p:txBody>
          <a:bodyPr lIns="0" tIns="0" rIns="0" bIns="0" rtlCol="0" anchor="t">
            <a:spAutoFit/>
          </a:bodyPr>
          <a:lstStyle/>
          <a:p>
            <a:pPr marL="0" lvl="0" indent="0" algn="l">
              <a:lnSpc>
                <a:spcPts val="12399"/>
              </a:lnSpc>
              <a:spcBef>
                <a:spcPct val="0"/>
              </a:spcBef>
            </a:pPr>
            <a:r>
              <a:rPr lang="en-US" sz="13052" b="1" spc="-848">
                <a:solidFill>
                  <a:srgbClr val="F1EEEA"/>
                </a:solidFill>
                <a:latin typeface="Garet Bold"/>
                <a:ea typeface="Garet Bold"/>
                <a:cs typeface="Garet Bold"/>
                <a:sym typeface="Garet Bold"/>
              </a:rPr>
              <a:t>LOGIN</a:t>
            </a:r>
          </a:p>
        </p:txBody>
      </p:sp>
      <p:sp>
        <p:nvSpPr>
          <p:cNvPr id="5" name="TextBox 5"/>
          <p:cNvSpPr txBox="1"/>
          <p:nvPr/>
        </p:nvSpPr>
        <p:spPr>
          <a:xfrm>
            <a:off x="-750633" y="4124710"/>
            <a:ext cx="9285188" cy="5634053"/>
          </a:xfrm>
          <a:prstGeom prst="rect">
            <a:avLst/>
          </a:prstGeom>
        </p:spPr>
        <p:txBody>
          <a:bodyPr lIns="0" tIns="0" rIns="0" bIns="0" rtlCol="0" anchor="t">
            <a:spAutoFit/>
          </a:bodyPr>
          <a:lstStyle/>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Identifiants par défaut :</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Username : admin</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Password : admin</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Fonctionnalités :</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Validation des identifiants</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Message d'erreur si connexion échouée</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Session persistante (localStorage)</a:t>
            </a:r>
          </a:p>
          <a:p>
            <a:pPr marL="769013" lvl="1" indent="-384506" algn="ctr">
              <a:lnSpc>
                <a:spcPts val="4986"/>
              </a:lnSpc>
              <a:spcBef>
                <a:spcPct val="0"/>
              </a:spcBef>
              <a:buFont typeface="Arial"/>
              <a:buChar char="•"/>
            </a:pPr>
            <a:r>
              <a:rPr lang="en-US" sz="3561">
                <a:solidFill>
                  <a:srgbClr val="F1EEEA"/>
                </a:solidFill>
                <a:latin typeface="Inter"/>
                <a:ea typeface="Inter"/>
                <a:cs typeface="Inter"/>
                <a:sym typeface="Inter"/>
              </a:rPr>
              <a:t>Option "Remember me"</a:t>
            </a:r>
          </a:p>
          <a:p>
            <a:pPr algn="ctr">
              <a:lnSpc>
                <a:spcPts val="4986"/>
              </a:lnSpc>
              <a:spcBef>
                <a:spcPct val="0"/>
              </a:spcBef>
            </a:pPr>
            <a:endParaRPr lang="en-US" sz="3561">
              <a:solidFill>
                <a:srgbClr val="F1EEEA"/>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EEA"/>
        </a:solidFill>
        <a:effectLst/>
      </p:bgPr>
    </p:bg>
    <p:spTree>
      <p:nvGrpSpPr>
        <p:cNvPr id="1" name=""/>
        <p:cNvGrpSpPr/>
        <p:nvPr/>
      </p:nvGrpSpPr>
      <p:grpSpPr>
        <a:xfrm>
          <a:off x="0" y="0"/>
          <a:ext cx="0" cy="0"/>
          <a:chOff x="0" y="0"/>
          <a:chExt cx="0" cy="0"/>
        </a:xfrm>
      </p:grpSpPr>
      <p:sp>
        <p:nvSpPr>
          <p:cNvPr id="2" name="Freeform 2"/>
          <p:cNvSpPr/>
          <p:nvPr/>
        </p:nvSpPr>
        <p:spPr>
          <a:xfrm>
            <a:off x="1028700" y="6931161"/>
            <a:ext cx="4366558" cy="4654277"/>
          </a:xfrm>
          <a:custGeom>
            <a:avLst/>
            <a:gdLst/>
            <a:ahLst/>
            <a:cxnLst/>
            <a:rect l="l" t="t" r="r" b="b"/>
            <a:pathLst>
              <a:path w="4366558" h="4654277">
                <a:moveTo>
                  <a:pt x="0" y="0"/>
                </a:moveTo>
                <a:lnTo>
                  <a:pt x="4366558" y="0"/>
                </a:lnTo>
                <a:lnTo>
                  <a:pt x="4366558" y="4654278"/>
                </a:lnTo>
                <a:lnTo>
                  <a:pt x="0" y="46542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0"/>
            <a:ext cx="11327515" cy="7955662"/>
          </a:xfrm>
          <a:custGeom>
            <a:avLst/>
            <a:gdLst/>
            <a:ahLst/>
            <a:cxnLst/>
            <a:rect l="l" t="t" r="r" b="b"/>
            <a:pathLst>
              <a:path w="11327515" h="7955662">
                <a:moveTo>
                  <a:pt x="0" y="0"/>
                </a:moveTo>
                <a:lnTo>
                  <a:pt x="11327515" y="0"/>
                </a:lnTo>
                <a:lnTo>
                  <a:pt x="11327515" y="7955662"/>
                </a:lnTo>
                <a:lnTo>
                  <a:pt x="0" y="7955662"/>
                </a:lnTo>
                <a:lnTo>
                  <a:pt x="0" y="0"/>
                </a:lnTo>
                <a:close/>
              </a:path>
            </a:pathLst>
          </a:custGeom>
          <a:blipFill>
            <a:blip r:embed="rId4"/>
            <a:stretch>
              <a:fillRect l="-22682" t="-7" b="-651"/>
            </a:stretch>
          </a:blipFill>
        </p:spPr>
        <p:txBody>
          <a:bodyPr/>
          <a:lstStyle/>
          <a:p>
            <a:endParaRPr lang="en-US"/>
          </a:p>
        </p:txBody>
      </p:sp>
      <p:sp>
        <p:nvSpPr>
          <p:cNvPr id="4" name="TextBox 4"/>
          <p:cNvSpPr txBox="1"/>
          <p:nvPr/>
        </p:nvSpPr>
        <p:spPr>
          <a:xfrm>
            <a:off x="11740341" y="653201"/>
            <a:ext cx="6547659" cy="2397578"/>
          </a:xfrm>
          <a:prstGeom prst="rect">
            <a:avLst/>
          </a:prstGeom>
        </p:spPr>
        <p:txBody>
          <a:bodyPr lIns="0" tIns="0" rIns="0" bIns="0" rtlCol="0" anchor="t">
            <a:spAutoFit/>
          </a:bodyPr>
          <a:lstStyle/>
          <a:p>
            <a:pPr marL="0" lvl="0" indent="0" algn="r">
              <a:lnSpc>
                <a:spcPts val="9153"/>
              </a:lnSpc>
            </a:pPr>
            <a:r>
              <a:rPr lang="en-US" sz="9635" b="1" spc="-626">
                <a:solidFill>
                  <a:srgbClr val="171717"/>
                </a:solidFill>
                <a:latin typeface="Garet Bold"/>
                <a:ea typeface="Garet Bold"/>
                <a:cs typeface="Garet Bold"/>
                <a:sym typeface="Garet Bold"/>
              </a:rPr>
              <a:t>Tableau de Bord </a:t>
            </a:r>
          </a:p>
        </p:txBody>
      </p:sp>
      <p:sp>
        <p:nvSpPr>
          <p:cNvPr id="5" name="TextBox 5"/>
          <p:cNvSpPr txBox="1"/>
          <p:nvPr/>
        </p:nvSpPr>
        <p:spPr>
          <a:xfrm>
            <a:off x="11327515" y="3375657"/>
            <a:ext cx="6653114" cy="6381749"/>
          </a:xfrm>
          <a:prstGeom prst="rect">
            <a:avLst/>
          </a:prstGeom>
        </p:spPr>
        <p:txBody>
          <a:bodyPr lIns="0" tIns="0" rIns="0" bIns="0" rtlCol="0" anchor="t">
            <a:spAutoFit/>
          </a:bodyPr>
          <a:lstStyle/>
          <a:p>
            <a:pPr algn="ctr">
              <a:lnSpc>
                <a:spcPts val="4200"/>
              </a:lnSpc>
            </a:pPr>
            <a:r>
              <a:rPr lang="en-US" sz="3000" b="1" spc="-195">
                <a:solidFill>
                  <a:srgbClr val="171717"/>
                </a:solidFill>
                <a:latin typeface="Garet Bold"/>
                <a:ea typeface="Garet Bold"/>
                <a:cs typeface="Garet Bold"/>
                <a:sym typeface="Garet Bold"/>
              </a:rPr>
              <a:t>Cartes interactives affichant :</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Nombre total de produits</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Nombre de fournisseurs</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Nombre de clients</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Nombre de commandes</a:t>
            </a:r>
          </a:p>
          <a:p>
            <a:pPr algn="ctr">
              <a:lnSpc>
                <a:spcPts val="4200"/>
              </a:lnSpc>
              <a:spcBef>
                <a:spcPct val="0"/>
              </a:spcBef>
            </a:pPr>
            <a:r>
              <a:rPr lang="en-US" sz="3000" b="1" spc="-195">
                <a:solidFill>
                  <a:srgbClr val="171717"/>
                </a:solidFill>
                <a:latin typeface="Garet Bold"/>
                <a:ea typeface="Garet Bold"/>
                <a:cs typeface="Garet Bold"/>
                <a:sym typeface="Garet Bold"/>
              </a:rPr>
              <a:t>Actions rapides</a:t>
            </a:r>
          </a:p>
          <a:p>
            <a:pPr algn="ctr">
              <a:lnSpc>
                <a:spcPts val="4200"/>
              </a:lnSpc>
              <a:spcBef>
                <a:spcPct val="0"/>
              </a:spcBef>
            </a:pPr>
            <a:r>
              <a:rPr lang="en-US" sz="3000" b="1" spc="-195">
                <a:solidFill>
                  <a:srgbClr val="171717"/>
                </a:solidFill>
                <a:latin typeface="Garet Bold"/>
                <a:ea typeface="Garet Bold"/>
                <a:cs typeface="Garet Bold"/>
                <a:sym typeface="Garet Bold"/>
              </a:rPr>
              <a:t>Boutons d'accès direct pour :</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 Ajouter un nouveau produit</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 Créer une nouvelle commande</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 Ajouter un fournisseur</a:t>
            </a:r>
          </a:p>
          <a:p>
            <a:pPr marL="647705" lvl="1" indent="-323852" algn="ctr">
              <a:lnSpc>
                <a:spcPts val="4200"/>
              </a:lnSpc>
              <a:spcBef>
                <a:spcPct val="0"/>
              </a:spcBef>
              <a:buFont typeface="Arial"/>
              <a:buChar char="•"/>
            </a:pPr>
            <a:r>
              <a:rPr lang="en-US" sz="3000" b="1" spc="-195">
                <a:solidFill>
                  <a:srgbClr val="171717"/>
                </a:solidFill>
                <a:latin typeface="Garet Bold"/>
                <a:ea typeface="Garet Bold"/>
                <a:cs typeface="Garet Bold"/>
                <a:sym typeface="Garet Bold"/>
              </a:rPr>
              <a:t>👤 Ajouter un client</a:t>
            </a:r>
          </a:p>
          <a:p>
            <a:pPr algn="ctr">
              <a:lnSpc>
                <a:spcPts val="4200"/>
              </a:lnSpc>
              <a:spcBef>
                <a:spcPct val="0"/>
              </a:spcBef>
            </a:pPr>
            <a:endParaRPr lang="en-US" sz="3000" b="1" spc="-195">
              <a:solidFill>
                <a:srgbClr val="171717"/>
              </a:solidFill>
              <a:latin typeface="Garet Bold"/>
              <a:ea typeface="Garet Bold"/>
              <a:cs typeface="Garet Bold"/>
              <a:sym typeface="Garet Bold"/>
            </a:endParaRPr>
          </a:p>
        </p:txBody>
      </p:sp>
      <p:sp>
        <p:nvSpPr>
          <p:cNvPr id="6" name="Freeform 6"/>
          <p:cNvSpPr/>
          <p:nvPr/>
        </p:nvSpPr>
        <p:spPr>
          <a:xfrm>
            <a:off x="7014851" y="7326313"/>
            <a:ext cx="3326496" cy="3326496"/>
          </a:xfrm>
          <a:custGeom>
            <a:avLst/>
            <a:gdLst/>
            <a:ahLst/>
            <a:cxnLst/>
            <a:rect l="l" t="t" r="r" b="b"/>
            <a:pathLst>
              <a:path w="3326496" h="3326496">
                <a:moveTo>
                  <a:pt x="0" y="0"/>
                </a:moveTo>
                <a:lnTo>
                  <a:pt x="3326496" y="0"/>
                </a:lnTo>
                <a:lnTo>
                  <a:pt x="3326496" y="3326495"/>
                </a:lnTo>
                <a:lnTo>
                  <a:pt x="0" y="33264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0" y="5357891"/>
            <a:ext cx="7128037" cy="5883870"/>
          </a:xfrm>
          <a:custGeom>
            <a:avLst/>
            <a:gdLst/>
            <a:ahLst/>
            <a:cxnLst/>
            <a:rect l="l" t="t" r="r" b="b"/>
            <a:pathLst>
              <a:path w="7128037" h="5883870">
                <a:moveTo>
                  <a:pt x="0" y="0"/>
                </a:moveTo>
                <a:lnTo>
                  <a:pt x="7128037" y="0"/>
                </a:lnTo>
                <a:lnTo>
                  <a:pt x="7128037" y="5883871"/>
                </a:lnTo>
                <a:lnTo>
                  <a:pt x="0" y="58838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6986741" y="0"/>
            <a:ext cx="11301259" cy="6145060"/>
          </a:xfrm>
          <a:custGeom>
            <a:avLst/>
            <a:gdLst/>
            <a:ahLst/>
            <a:cxnLst/>
            <a:rect l="l" t="t" r="r" b="b"/>
            <a:pathLst>
              <a:path w="11301259" h="6145060">
                <a:moveTo>
                  <a:pt x="0" y="0"/>
                </a:moveTo>
                <a:lnTo>
                  <a:pt x="11301259" y="0"/>
                </a:lnTo>
                <a:lnTo>
                  <a:pt x="11301259" y="6145060"/>
                </a:lnTo>
                <a:lnTo>
                  <a:pt x="0" y="6145060"/>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0" y="328529"/>
            <a:ext cx="8930405" cy="4814971"/>
          </a:xfrm>
          <a:prstGeom prst="rect">
            <a:avLst/>
          </a:prstGeom>
        </p:spPr>
        <p:txBody>
          <a:bodyPr lIns="0" tIns="0" rIns="0" bIns="0" rtlCol="0" anchor="t">
            <a:spAutoFit/>
          </a:bodyPr>
          <a:lstStyle/>
          <a:p>
            <a:pPr algn="l">
              <a:lnSpc>
                <a:spcPts val="12399"/>
              </a:lnSpc>
            </a:pPr>
            <a:r>
              <a:rPr lang="en-US" sz="13052" b="1" spc="-848">
                <a:solidFill>
                  <a:srgbClr val="F1EEEA"/>
                </a:solidFill>
                <a:latin typeface="Garet Bold"/>
                <a:ea typeface="Garet Bold"/>
                <a:cs typeface="Garet Bold"/>
                <a:sym typeface="Garet Bold"/>
              </a:rPr>
              <a:t>Tableau </a:t>
            </a:r>
          </a:p>
          <a:p>
            <a:pPr algn="l">
              <a:lnSpc>
                <a:spcPts val="12399"/>
              </a:lnSpc>
            </a:pPr>
            <a:r>
              <a:rPr lang="en-US" sz="13052" b="1" spc="-848">
                <a:solidFill>
                  <a:srgbClr val="F1EEEA"/>
                </a:solidFill>
                <a:latin typeface="Garet Bold"/>
                <a:ea typeface="Garet Bold"/>
                <a:cs typeface="Garet Bold"/>
                <a:sym typeface="Garet Bold"/>
              </a:rPr>
              <a:t>de</a:t>
            </a:r>
          </a:p>
          <a:p>
            <a:pPr marL="0" lvl="0" indent="0" algn="l">
              <a:lnSpc>
                <a:spcPts val="12399"/>
              </a:lnSpc>
              <a:spcBef>
                <a:spcPct val="0"/>
              </a:spcBef>
            </a:pPr>
            <a:r>
              <a:rPr lang="en-US" sz="13052" b="1" spc="-848">
                <a:solidFill>
                  <a:srgbClr val="F1EEEA"/>
                </a:solidFill>
                <a:latin typeface="Garet Bold"/>
                <a:ea typeface="Garet Bold"/>
                <a:cs typeface="Garet Bold"/>
                <a:sym typeface="Garet Bold"/>
              </a:rPr>
              <a:t>Bord</a:t>
            </a:r>
          </a:p>
        </p:txBody>
      </p:sp>
      <p:sp>
        <p:nvSpPr>
          <p:cNvPr id="5" name="TextBox 5"/>
          <p:cNvSpPr txBox="1"/>
          <p:nvPr/>
        </p:nvSpPr>
        <p:spPr>
          <a:xfrm>
            <a:off x="5752604" y="5975350"/>
            <a:ext cx="12535396" cy="4311650"/>
          </a:xfrm>
          <a:prstGeom prst="rect">
            <a:avLst/>
          </a:prstGeom>
        </p:spPr>
        <p:txBody>
          <a:bodyPr lIns="0" tIns="0" rIns="0" bIns="0" rtlCol="0" anchor="t">
            <a:spAutoFit/>
          </a:bodyPr>
          <a:lstStyle/>
          <a:p>
            <a:pPr algn="ctr">
              <a:lnSpc>
                <a:spcPts val="4900"/>
              </a:lnSpc>
            </a:pPr>
            <a:r>
              <a:rPr lang="en-US" sz="3500" b="1" spc="-227">
                <a:solidFill>
                  <a:srgbClr val="F1EEEA"/>
                </a:solidFill>
                <a:latin typeface="Garet Bold"/>
                <a:ea typeface="Garet Bold"/>
                <a:cs typeface="Garet Bold"/>
                <a:sym typeface="Garet Bold"/>
              </a:rPr>
              <a:t>Graphiques visualisés</a:t>
            </a:r>
          </a:p>
          <a:p>
            <a:pPr algn="ctr">
              <a:lnSpc>
                <a:spcPts val="4900"/>
              </a:lnSpc>
              <a:spcBef>
                <a:spcPct val="0"/>
              </a:spcBef>
            </a:pPr>
            <a:r>
              <a:rPr lang="en-US" sz="3500" b="1" spc="-227">
                <a:solidFill>
                  <a:srgbClr val="F1EEEA"/>
                </a:solidFill>
                <a:latin typeface="Garet Bold"/>
                <a:ea typeface="Garet Bold"/>
                <a:cs typeface="Garet Bold"/>
                <a:sym typeface="Garet Bold"/>
              </a:rPr>
              <a:t>Distribution du stock (graphique en donut)</a:t>
            </a:r>
          </a:p>
          <a:p>
            <a:pPr algn="ctr">
              <a:lnSpc>
                <a:spcPts val="4900"/>
              </a:lnSpc>
              <a:spcBef>
                <a:spcPct val="0"/>
              </a:spcBef>
            </a:pPr>
            <a:r>
              <a:rPr lang="en-US" sz="3500" b="1" spc="-227">
                <a:solidFill>
                  <a:srgbClr val="F1EEEA"/>
                </a:solidFill>
                <a:latin typeface="Garet Bold"/>
                <a:ea typeface="Garet Bold"/>
                <a:cs typeface="Garet Bold"/>
                <a:sym typeface="Garet Bold"/>
              </a:rPr>
              <a:t>Tendances des commandes (graphique linéaire)</a:t>
            </a:r>
          </a:p>
          <a:p>
            <a:pPr algn="ctr">
              <a:lnSpc>
                <a:spcPts val="4900"/>
              </a:lnSpc>
              <a:spcBef>
                <a:spcPct val="0"/>
              </a:spcBef>
            </a:pPr>
            <a:r>
              <a:rPr lang="en-US" sz="3500" b="1" spc="-227">
                <a:solidFill>
                  <a:srgbClr val="F1EEEA"/>
                </a:solidFill>
                <a:latin typeface="Garet Bold"/>
                <a:ea typeface="Garet Bold"/>
                <a:cs typeface="Garet Bold"/>
                <a:sym typeface="Garet Bold"/>
              </a:rPr>
              <a:t>Tables d'alertes</a:t>
            </a:r>
          </a:p>
          <a:p>
            <a:pPr algn="ctr">
              <a:lnSpc>
                <a:spcPts val="4900"/>
              </a:lnSpc>
              <a:spcBef>
                <a:spcPct val="0"/>
              </a:spcBef>
            </a:pPr>
            <a:r>
              <a:rPr lang="en-US" sz="3500" b="1" spc="-227">
                <a:solidFill>
                  <a:srgbClr val="F1EEEA"/>
                </a:solidFill>
                <a:latin typeface="Garet Bold"/>
                <a:ea typeface="Garet Bold"/>
                <a:cs typeface="Garet Bold"/>
                <a:sym typeface="Garet Bold"/>
              </a:rPr>
              <a:t>Produits à faible stock avec boutons de réapprovisionnement</a:t>
            </a:r>
          </a:p>
          <a:p>
            <a:pPr algn="ctr">
              <a:lnSpc>
                <a:spcPts val="4900"/>
              </a:lnSpc>
              <a:spcBef>
                <a:spcPct val="0"/>
              </a:spcBef>
            </a:pPr>
            <a:r>
              <a:rPr lang="en-US" sz="3500" b="1" spc="-227">
                <a:solidFill>
                  <a:srgbClr val="F1EEEA"/>
                </a:solidFill>
                <a:latin typeface="Garet Bold"/>
                <a:ea typeface="Garet Bold"/>
                <a:cs typeface="Garet Bold"/>
                <a:sym typeface="Garet Bold"/>
              </a:rPr>
              <a:t>Commandes récentes avec statuts</a:t>
            </a:r>
          </a:p>
          <a:p>
            <a:pPr algn="ctr">
              <a:lnSpc>
                <a:spcPts val="4900"/>
              </a:lnSpc>
              <a:spcBef>
                <a:spcPct val="0"/>
              </a:spcBef>
            </a:pPr>
            <a:endParaRPr lang="en-US" sz="3500" b="1" spc="-227">
              <a:solidFill>
                <a:srgbClr val="F1EEEA"/>
              </a:solidFill>
              <a:latin typeface="Garet Bold"/>
              <a:ea typeface="Garet Bold"/>
              <a:cs typeface="Garet Bold"/>
              <a:sym typeface="Garet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EEA"/>
        </a:solidFill>
        <a:effectLst/>
      </p:bgPr>
    </p:bg>
    <p:spTree>
      <p:nvGrpSpPr>
        <p:cNvPr id="1" name=""/>
        <p:cNvGrpSpPr/>
        <p:nvPr/>
      </p:nvGrpSpPr>
      <p:grpSpPr>
        <a:xfrm>
          <a:off x="0" y="0"/>
          <a:ext cx="0" cy="0"/>
          <a:chOff x="0" y="0"/>
          <a:chExt cx="0" cy="0"/>
        </a:xfrm>
      </p:grpSpPr>
      <p:sp>
        <p:nvSpPr>
          <p:cNvPr id="2" name="Freeform 2"/>
          <p:cNvSpPr/>
          <p:nvPr/>
        </p:nvSpPr>
        <p:spPr>
          <a:xfrm>
            <a:off x="-128647" y="0"/>
            <a:ext cx="11301259" cy="5594123"/>
          </a:xfrm>
          <a:custGeom>
            <a:avLst/>
            <a:gdLst/>
            <a:ahLst/>
            <a:cxnLst/>
            <a:rect l="l" t="t" r="r" b="b"/>
            <a:pathLst>
              <a:path w="11301259" h="5594123">
                <a:moveTo>
                  <a:pt x="0" y="0"/>
                </a:moveTo>
                <a:lnTo>
                  <a:pt x="11301259" y="0"/>
                </a:lnTo>
                <a:lnTo>
                  <a:pt x="11301259" y="5594123"/>
                </a:lnTo>
                <a:lnTo>
                  <a:pt x="0" y="559412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1172612" y="485920"/>
            <a:ext cx="7292380" cy="5314950"/>
          </a:xfrm>
          <a:prstGeom prst="rect">
            <a:avLst/>
          </a:prstGeom>
        </p:spPr>
        <p:txBody>
          <a:bodyPr lIns="0" tIns="0" rIns="0" bIns="0" rtlCol="0" anchor="t">
            <a:spAutoFit/>
          </a:bodyPr>
          <a:lstStyle/>
          <a:p>
            <a:pPr algn="ctr">
              <a:lnSpc>
                <a:spcPts val="4200"/>
              </a:lnSpc>
              <a:spcBef>
                <a:spcPct val="0"/>
              </a:spcBef>
            </a:pPr>
            <a:r>
              <a:rPr lang="en-US" sz="3000" b="1" spc="-195">
                <a:solidFill>
                  <a:srgbClr val="171717"/>
                </a:solidFill>
                <a:latin typeface="Garet Bold"/>
                <a:ea typeface="Garet Bold"/>
                <a:cs typeface="Garet Bold"/>
                <a:sym typeface="Garet Bold"/>
              </a:rPr>
              <a:t>Fonctionnalités principales</a:t>
            </a:r>
          </a:p>
          <a:p>
            <a:pPr algn="ctr">
              <a:lnSpc>
                <a:spcPts val="4200"/>
              </a:lnSpc>
              <a:spcBef>
                <a:spcPct val="0"/>
              </a:spcBef>
            </a:pPr>
            <a:r>
              <a:rPr lang="en-US" sz="3000" b="1" spc="-195">
                <a:solidFill>
                  <a:srgbClr val="171717"/>
                </a:solidFill>
                <a:latin typeface="Garet Bold"/>
                <a:ea typeface="Garet Bold"/>
                <a:cs typeface="Garet Bold"/>
                <a:sym typeface="Garet Bold"/>
              </a:rPr>
              <a:t>Liste complète de tous les produits</a:t>
            </a:r>
          </a:p>
          <a:p>
            <a:pPr algn="ctr">
              <a:lnSpc>
                <a:spcPts val="4200"/>
              </a:lnSpc>
              <a:spcBef>
                <a:spcPct val="0"/>
              </a:spcBef>
            </a:pPr>
            <a:r>
              <a:rPr lang="en-US" sz="3000" b="1" spc="-195">
                <a:solidFill>
                  <a:srgbClr val="171717"/>
                </a:solidFill>
                <a:latin typeface="Garet Bold"/>
                <a:ea typeface="Garet Bold"/>
                <a:cs typeface="Garet Bold"/>
                <a:sym typeface="Garet Bold"/>
              </a:rPr>
              <a:t>Barre de recherche en temps réel</a:t>
            </a:r>
          </a:p>
          <a:p>
            <a:pPr algn="ctr">
              <a:lnSpc>
                <a:spcPts val="4200"/>
              </a:lnSpc>
              <a:spcBef>
                <a:spcPct val="0"/>
              </a:spcBef>
            </a:pPr>
            <a:r>
              <a:rPr lang="en-US" sz="3000" b="1" spc="-195">
                <a:solidFill>
                  <a:srgbClr val="171717"/>
                </a:solidFill>
                <a:latin typeface="Garet Bold"/>
                <a:ea typeface="Garet Bold"/>
                <a:cs typeface="Garet Bold"/>
                <a:sym typeface="Garet Bold"/>
              </a:rPr>
              <a:t>Bouton d'ajout de nouveau produit</a:t>
            </a:r>
          </a:p>
          <a:p>
            <a:pPr algn="ctr">
              <a:lnSpc>
                <a:spcPts val="4200"/>
              </a:lnSpc>
              <a:spcBef>
                <a:spcPct val="0"/>
              </a:spcBef>
            </a:pPr>
            <a:r>
              <a:rPr lang="en-US" sz="3000" b="1" spc="-195">
                <a:solidFill>
                  <a:srgbClr val="171717"/>
                </a:solidFill>
                <a:latin typeface="Garet Bold"/>
                <a:ea typeface="Garet Bold"/>
                <a:cs typeface="Garet Bold"/>
                <a:sym typeface="Garet Bold"/>
              </a:rPr>
              <a:t>Informations affichées</a:t>
            </a:r>
          </a:p>
          <a:p>
            <a:pPr algn="ctr">
              <a:lnSpc>
                <a:spcPts val="4200"/>
              </a:lnSpc>
              <a:spcBef>
                <a:spcPct val="0"/>
              </a:spcBef>
            </a:pPr>
            <a:r>
              <a:rPr lang="en-US" sz="3000" b="1" spc="-195">
                <a:solidFill>
                  <a:srgbClr val="171717"/>
                </a:solidFill>
                <a:latin typeface="Garet Bold"/>
                <a:ea typeface="Garet Bold"/>
                <a:cs typeface="Garet Bold"/>
                <a:sym typeface="Garet Bold"/>
              </a:rPr>
              <a:t>ID, Nom, Catégorie</a:t>
            </a:r>
          </a:p>
          <a:p>
            <a:pPr algn="ctr">
              <a:lnSpc>
                <a:spcPts val="4200"/>
              </a:lnSpc>
              <a:spcBef>
                <a:spcPct val="0"/>
              </a:spcBef>
            </a:pPr>
            <a:r>
              <a:rPr lang="en-US" sz="3000" b="1" spc="-195">
                <a:solidFill>
                  <a:srgbClr val="171717"/>
                </a:solidFill>
                <a:latin typeface="Garet Bold"/>
                <a:ea typeface="Garet Bold"/>
                <a:cs typeface="Garet Bold"/>
                <a:sym typeface="Garet Bold"/>
              </a:rPr>
              <a:t>Prix, Quantité en stock</a:t>
            </a:r>
          </a:p>
          <a:p>
            <a:pPr algn="ctr">
              <a:lnSpc>
                <a:spcPts val="4200"/>
              </a:lnSpc>
              <a:spcBef>
                <a:spcPct val="0"/>
              </a:spcBef>
            </a:pPr>
            <a:r>
              <a:rPr lang="en-US" sz="3000" b="1" spc="-195">
                <a:solidFill>
                  <a:srgbClr val="171717"/>
                </a:solidFill>
                <a:latin typeface="Garet Bold"/>
                <a:ea typeface="Garet Bold"/>
                <a:cs typeface="Garet Bold"/>
                <a:sym typeface="Garet Bold"/>
              </a:rPr>
              <a:t>Entrepôt de stockage</a:t>
            </a:r>
          </a:p>
          <a:p>
            <a:pPr algn="ctr">
              <a:lnSpc>
                <a:spcPts val="4200"/>
              </a:lnSpc>
              <a:spcBef>
                <a:spcPct val="0"/>
              </a:spcBef>
            </a:pPr>
            <a:r>
              <a:rPr lang="en-US" sz="3000" b="1" spc="-195">
                <a:solidFill>
                  <a:srgbClr val="171717"/>
                </a:solidFill>
                <a:latin typeface="Garet Bold"/>
                <a:ea typeface="Garet Bold"/>
                <a:cs typeface="Garet Bold"/>
                <a:sym typeface="Garet Bold"/>
              </a:rPr>
              <a:t>Actions (Modifier, Supprimer, Voir détails)</a:t>
            </a:r>
          </a:p>
          <a:p>
            <a:pPr algn="ctr">
              <a:lnSpc>
                <a:spcPts val="4200"/>
              </a:lnSpc>
              <a:spcBef>
                <a:spcPct val="0"/>
              </a:spcBef>
            </a:pPr>
            <a:endParaRPr lang="en-US" sz="3000" b="1" spc="-195">
              <a:solidFill>
                <a:srgbClr val="171717"/>
              </a:solidFill>
              <a:latin typeface="Garet Bold"/>
              <a:ea typeface="Garet Bold"/>
              <a:cs typeface="Garet Bold"/>
              <a:sym typeface="Garet Bold"/>
            </a:endParaRPr>
          </a:p>
        </p:txBody>
      </p:sp>
      <p:sp>
        <p:nvSpPr>
          <p:cNvPr id="4" name="TextBox 4"/>
          <p:cNvSpPr txBox="1"/>
          <p:nvPr/>
        </p:nvSpPr>
        <p:spPr>
          <a:xfrm>
            <a:off x="-5726092" y="5832248"/>
            <a:ext cx="11452183" cy="3679824"/>
          </a:xfrm>
          <a:prstGeom prst="rect">
            <a:avLst/>
          </a:prstGeom>
        </p:spPr>
        <p:txBody>
          <a:bodyPr lIns="0" tIns="0" rIns="0" bIns="0" rtlCol="0" anchor="t">
            <a:spAutoFit/>
          </a:bodyPr>
          <a:lstStyle/>
          <a:p>
            <a:pPr algn="r">
              <a:lnSpc>
                <a:spcPts val="9499"/>
              </a:lnSpc>
            </a:pPr>
            <a:r>
              <a:rPr lang="en-US" sz="9999" b="1" spc="-649" dirty="0">
                <a:solidFill>
                  <a:srgbClr val="171717"/>
                </a:solidFill>
                <a:latin typeface="Garet Bold"/>
                <a:ea typeface="Garet Bold"/>
                <a:cs typeface="Garet Bold"/>
                <a:sym typeface="Garet Bold"/>
              </a:rPr>
              <a:t>Gestion </a:t>
            </a:r>
          </a:p>
          <a:p>
            <a:pPr algn="r">
              <a:lnSpc>
                <a:spcPts val="9499"/>
              </a:lnSpc>
            </a:pPr>
            <a:r>
              <a:rPr lang="en-US" sz="9999" b="1" spc="-649" dirty="0">
                <a:solidFill>
                  <a:srgbClr val="171717"/>
                </a:solidFill>
                <a:latin typeface="Garet Bold"/>
                <a:ea typeface="Garet Bold"/>
                <a:cs typeface="Garet Bold"/>
                <a:sym typeface="Garet Bold"/>
              </a:rPr>
              <a:t>des</a:t>
            </a:r>
          </a:p>
          <a:p>
            <a:pPr marL="0" lvl="0" indent="0" algn="r">
              <a:lnSpc>
                <a:spcPts val="9499"/>
              </a:lnSpc>
            </a:pPr>
            <a:r>
              <a:rPr lang="en-US" sz="9999" b="1" spc="-649" dirty="0">
                <a:solidFill>
                  <a:srgbClr val="171717"/>
                </a:solidFill>
                <a:latin typeface="Garet Bold"/>
                <a:ea typeface="Garet Bold"/>
                <a:cs typeface="Garet Bold"/>
                <a:sym typeface="Garet Bold"/>
              </a:rPr>
              <a:t> </a:t>
            </a:r>
            <a:r>
              <a:rPr lang="en-US" sz="9999" b="1" spc="-649" dirty="0" err="1">
                <a:solidFill>
                  <a:srgbClr val="171717"/>
                </a:solidFill>
                <a:latin typeface="Garet Bold"/>
                <a:ea typeface="Garet Bold"/>
                <a:cs typeface="Garet Bold"/>
                <a:sym typeface="Garet Bold"/>
              </a:rPr>
              <a:t>Produits</a:t>
            </a:r>
            <a:endParaRPr lang="en-US" sz="9999" b="1" spc="-649" dirty="0">
              <a:solidFill>
                <a:srgbClr val="171717"/>
              </a:solidFill>
              <a:latin typeface="Garet Bold"/>
              <a:ea typeface="Garet Bold"/>
              <a:cs typeface="Garet Bold"/>
              <a:sym typeface="Garet Bold"/>
            </a:endParaRPr>
          </a:p>
        </p:txBody>
      </p:sp>
      <p:sp>
        <p:nvSpPr>
          <p:cNvPr id="5" name="TextBox 5"/>
          <p:cNvSpPr txBox="1"/>
          <p:nvPr/>
        </p:nvSpPr>
        <p:spPr>
          <a:xfrm>
            <a:off x="6014703" y="5743720"/>
            <a:ext cx="9775727" cy="4781550"/>
          </a:xfrm>
          <a:prstGeom prst="rect">
            <a:avLst/>
          </a:prstGeom>
        </p:spPr>
        <p:txBody>
          <a:bodyPr lIns="0" tIns="0" rIns="0" bIns="0" rtlCol="0" anchor="t">
            <a:spAutoFit/>
          </a:bodyPr>
          <a:lstStyle/>
          <a:p>
            <a:pPr algn="ctr">
              <a:lnSpc>
                <a:spcPts val="4200"/>
              </a:lnSpc>
              <a:spcBef>
                <a:spcPct val="0"/>
              </a:spcBef>
            </a:pPr>
            <a:r>
              <a:rPr lang="en-US" sz="2400" b="1" spc="-195" dirty="0" err="1">
                <a:solidFill>
                  <a:srgbClr val="171717"/>
                </a:solidFill>
                <a:latin typeface="Garet Bold"/>
                <a:ea typeface="Garet Bold"/>
                <a:cs typeface="Garet Bold"/>
                <a:sym typeface="Garet Bold"/>
              </a:rPr>
              <a:t>Formulaire</a:t>
            </a:r>
            <a:r>
              <a:rPr lang="en-US" sz="2400" b="1" spc="-195" dirty="0">
                <a:solidFill>
                  <a:srgbClr val="171717"/>
                </a:solidFill>
                <a:latin typeface="Garet Bold"/>
                <a:ea typeface="Garet Bold"/>
                <a:cs typeface="Garet Bold"/>
                <a:sym typeface="Garet Bold"/>
              </a:rPr>
              <a:t> </a:t>
            </a:r>
            <a:r>
              <a:rPr lang="en-US" sz="2400" b="1" spc="-195" dirty="0" err="1">
                <a:solidFill>
                  <a:srgbClr val="171717"/>
                </a:solidFill>
                <a:latin typeface="Garet Bold"/>
                <a:ea typeface="Garet Bold"/>
                <a:cs typeface="Garet Bold"/>
                <a:sym typeface="Garet Bold"/>
              </a:rPr>
              <a:t>d'ajout</a:t>
            </a:r>
            <a:r>
              <a:rPr lang="en-US" sz="2400" b="1" spc="-195" dirty="0">
                <a:solidFill>
                  <a:srgbClr val="171717"/>
                </a:solidFill>
                <a:latin typeface="Garet Bold"/>
                <a:ea typeface="Garet Bold"/>
                <a:cs typeface="Garet Bold"/>
                <a:sym typeface="Garet Bold"/>
              </a:rPr>
              <a:t>/modification</a:t>
            </a:r>
          </a:p>
          <a:p>
            <a:pPr algn="ctr">
              <a:lnSpc>
                <a:spcPts val="4200"/>
              </a:lnSpc>
              <a:spcBef>
                <a:spcPct val="0"/>
              </a:spcBef>
            </a:pPr>
            <a:r>
              <a:rPr lang="en-US" sz="2400" b="1" spc="-195" dirty="0">
                <a:solidFill>
                  <a:srgbClr val="171717"/>
                </a:solidFill>
                <a:latin typeface="Garet Bold"/>
                <a:ea typeface="Garet Bold"/>
                <a:cs typeface="Garet Bold"/>
                <a:sym typeface="Garet Bold"/>
              </a:rPr>
              <a:t>Sections </a:t>
            </a:r>
            <a:r>
              <a:rPr lang="en-US" sz="2400" b="1" spc="-195" dirty="0" err="1">
                <a:solidFill>
                  <a:srgbClr val="171717"/>
                </a:solidFill>
                <a:latin typeface="Garet Bold"/>
                <a:ea typeface="Garet Bold"/>
                <a:cs typeface="Garet Bold"/>
                <a:sym typeface="Garet Bold"/>
              </a:rPr>
              <a:t>organisées</a:t>
            </a:r>
            <a:r>
              <a:rPr lang="en-US" sz="2400" b="1" spc="-195" dirty="0">
                <a:solidFill>
                  <a:srgbClr val="171717"/>
                </a:solidFill>
                <a:latin typeface="Garet Bold"/>
                <a:ea typeface="Garet Bold"/>
                <a:cs typeface="Garet Bold"/>
                <a:sym typeface="Garet Bold"/>
              </a:rPr>
              <a:t> :</a:t>
            </a:r>
          </a:p>
          <a:p>
            <a:pPr algn="ctr">
              <a:lnSpc>
                <a:spcPts val="4200"/>
              </a:lnSpc>
              <a:spcBef>
                <a:spcPct val="0"/>
              </a:spcBef>
            </a:pPr>
            <a:r>
              <a:rPr lang="en-US" sz="2400" b="1" spc="-195" dirty="0" err="1">
                <a:solidFill>
                  <a:srgbClr val="171717"/>
                </a:solidFill>
                <a:latin typeface="Garet Bold"/>
                <a:ea typeface="Garet Bold"/>
                <a:cs typeface="Garet Bold"/>
                <a:sym typeface="Garet Bold"/>
              </a:rPr>
              <a:t>Informations</a:t>
            </a:r>
            <a:r>
              <a:rPr lang="en-US" sz="2400" b="1" spc="-195" dirty="0">
                <a:solidFill>
                  <a:srgbClr val="171717"/>
                </a:solidFill>
                <a:latin typeface="Garet Bold"/>
                <a:ea typeface="Garet Bold"/>
                <a:cs typeface="Garet Bold"/>
                <a:sym typeface="Garet Bold"/>
              </a:rPr>
              <a:t> de base : Nom, </a:t>
            </a:r>
            <a:r>
              <a:rPr lang="en-US" sz="2400" b="1" spc="-195" dirty="0" err="1">
                <a:solidFill>
                  <a:srgbClr val="171717"/>
                </a:solidFill>
                <a:latin typeface="Garet Bold"/>
                <a:ea typeface="Garet Bold"/>
                <a:cs typeface="Garet Bold"/>
                <a:sym typeface="Garet Bold"/>
              </a:rPr>
              <a:t>Catégorie</a:t>
            </a:r>
            <a:r>
              <a:rPr lang="en-US" sz="2400" b="1" spc="-195" dirty="0">
                <a:solidFill>
                  <a:srgbClr val="171717"/>
                </a:solidFill>
                <a:latin typeface="Garet Bold"/>
                <a:ea typeface="Garet Bold"/>
                <a:cs typeface="Garet Bold"/>
                <a:sym typeface="Garet Bold"/>
              </a:rPr>
              <a:t>, Prix, </a:t>
            </a:r>
            <a:r>
              <a:rPr lang="en-US" sz="2400" b="1" spc="-195" dirty="0" err="1">
                <a:solidFill>
                  <a:srgbClr val="171717"/>
                </a:solidFill>
                <a:latin typeface="Garet Bold"/>
                <a:ea typeface="Garet Bold"/>
                <a:cs typeface="Garet Bold"/>
                <a:sym typeface="Garet Bold"/>
              </a:rPr>
              <a:t>Fournisseur</a:t>
            </a:r>
            <a:endParaRPr lang="en-US" sz="2400" b="1" spc="-195" dirty="0">
              <a:solidFill>
                <a:srgbClr val="171717"/>
              </a:solidFill>
              <a:latin typeface="Garet Bold"/>
              <a:ea typeface="Garet Bold"/>
              <a:cs typeface="Garet Bold"/>
              <a:sym typeface="Garet Bold"/>
            </a:endParaRPr>
          </a:p>
          <a:p>
            <a:pPr algn="ctr">
              <a:lnSpc>
                <a:spcPts val="4200"/>
              </a:lnSpc>
              <a:spcBef>
                <a:spcPct val="0"/>
              </a:spcBef>
            </a:pPr>
            <a:r>
              <a:rPr lang="en-US" sz="2400" b="1" spc="-195" dirty="0">
                <a:solidFill>
                  <a:srgbClr val="171717"/>
                </a:solidFill>
                <a:latin typeface="Garet Bold"/>
                <a:ea typeface="Garet Bold"/>
                <a:cs typeface="Garet Bold"/>
                <a:sym typeface="Garet Bold"/>
              </a:rPr>
              <a:t>Gestion du stock : </a:t>
            </a:r>
            <a:r>
              <a:rPr lang="en-US" sz="2400" b="1" spc="-195" dirty="0" err="1">
                <a:solidFill>
                  <a:srgbClr val="171717"/>
                </a:solidFill>
                <a:latin typeface="Garet Bold"/>
                <a:ea typeface="Garet Bold"/>
                <a:cs typeface="Garet Bold"/>
                <a:sym typeface="Garet Bold"/>
              </a:rPr>
              <a:t>Quantité</a:t>
            </a:r>
            <a:r>
              <a:rPr lang="en-US" sz="2400" b="1" spc="-195" dirty="0">
                <a:solidFill>
                  <a:srgbClr val="171717"/>
                </a:solidFill>
                <a:latin typeface="Garet Bold"/>
                <a:ea typeface="Garet Bold"/>
                <a:cs typeface="Garet Bold"/>
                <a:sym typeface="Garet Bold"/>
              </a:rPr>
              <a:t>, </a:t>
            </a:r>
            <a:r>
              <a:rPr lang="en-US" sz="2400" b="1" spc="-195" dirty="0" err="1">
                <a:solidFill>
                  <a:srgbClr val="171717"/>
                </a:solidFill>
                <a:latin typeface="Garet Bold"/>
                <a:ea typeface="Garet Bold"/>
                <a:cs typeface="Garet Bold"/>
                <a:sym typeface="Garet Bold"/>
              </a:rPr>
              <a:t>Seuil</a:t>
            </a:r>
            <a:r>
              <a:rPr lang="en-US" sz="2400" b="1" spc="-195" dirty="0">
                <a:solidFill>
                  <a:srgbClr val="171717"/>
                </a:solidFill>
                <a:latin typeface="Garet Bold"/>
                <a:ea typeface="Garet Bold"/>
                <a:cs typeface="Garet Bold"/>
                <a:sym typeface="Garet Bold"/>
              </a:rPr>
              <a:t> minimum, Entrepôt</a:t>
            </a:r>
          </a:p>
          <a:p>
            <a:pPr algn="ctr">
              <a:lnSpc>
                <a:spcPts val="4200"/>
              </a:lnSpc>
              <a:spcBef>
                <a:spcPct val="0"/>
              </a:spcBef>
            </a:pPr>
            <a:r>
              <a:rPr lang="en-US" sz="2400" b="1" spc="-195" dirty="0">
                <a:solidFill>
                  <a:srgbClr val="171717"/>
                </a:solidFill>
                <a:latin typeface="Garet Bold"/>
                <a:ea typeface="Garet Bold"/>
                <a:cs typeface="Garet Bold"/>
                <a:sym typeface="Garet Bold"/>
              </a:rPr>
              <a:t>Description : </a:t>
            </a:r>
            <a:r>
              <a:rPr lang="en-US" sz="2400" b="1" spc="-195" dirty="0" err="1">
                <a:solidFill>
                  <a:srgbClr val="171717"/>
                </a:solidFill>
                <a:latin typeface="Garet Bold"/>
                <a:ea typeface="Garet Bold"/>
                <a:cs typeface="Garet Bold"/>
                <a:sym typeface="Garet Bold"/>
              </a:rPr>
              <a:t>Détails</a:t>
            </a:r>
            <a:r>
              <a:rPr lang="en-US" sz="2400" b="1" spc="-195" dirty="0">
                <a:solidFill>
                  <a:srgbClr val="171717"/>
                </a:solidFill>
                <a:latin typeface="Garet Bold"/>
                <a:ea typeface="Garet Bold"/>
                <a:cs typeface="Garet Bold"/>
                <a:sym typeface="Garet Bold"/>
              </a:rPr>
              <a:t> du </a:t>
            </a:r>
            <a:r>
              <a:rPr lang="en-US" sz="2400" b="1" spc="-195" dirty="0" err="1">
                <a:solidFill>
                  <a:srgbClr val="171717"/>
                </a:solidFill>
                <a:latin typeface="Garet Bold"/>
                <a:ea typeface="Garet Bold"/>
                <a:cs typeface="Garet Bold"/>
                <a:sym typeface="Garet Bold"/>
              </a:rPr>
              <a:t>produit</a:t>
            </a:r>
            <a:endParaRPr lang="en-US" sz="2400" b="1" spc="-195" dirty="0">
              <a:solidFill>
                <a:srgbClr val="171717"/>
              </a:solidFill>
              <a:latin typeface="Garet Bold"/>
              <a:ea typeface="Garet Bold"/>
              <a:cs typeface="Garet Bold"/>
              <a:sym typeface="Garet Bold"/>
            </a:endParaRPr>
          </a:p>
          <a:p>
            <a:pPr algn="ctr">
              <a:lnSpc>
                <a:spcPts val="4200"/>
              </a:lnSpc>
              <a:spcBef>
                <a:spcPct val="0"/>
              </a:spcBef>
            </a:pPr>
            <a:r>
              <a:rPr lang="en-US" sz="2400" b="1" spc="-195" dirty="0" err="1">
                <a:solidFill>
                  <a:srgbClr val="171717"/>
                </a:solidFill>
                <a:latin typeface="Garet Bold"/>
                <a:ea typeface="Garet Bold"/>
                <a:cs typeface="Garet Bold"/>
                <a:sym typeface="Garet Bold"/>
              </a:rPr>
              <a:t>Alertes</a:t>
            </a:r>
            <a:r>
              <a:rPr lang="en-US" sz="2400" b="1" spc="-195" dirty="0">
                <a:solidFill>
                  <a:srgbClr val="171717"/>
                </a:solidFill>
                <a:latin typeface="Garet Bold"/>
                <a:ea typeface="Garet Bold"/>
                <a:cs typeface="Garet Bold"/>
                <a:sym typeface="Garet Bold"/>
              </a:rPr>
              <a:t> </a:t>
            </a:r>
            <a:r>
              <a:rPr lang="en-US" sz="2400" b="1" spc="-195" dirty="0" err="1">
                <a:solidFill>
                  <a:srgbClr val="171717"/>
                </a:solidFill>
                <a:latin typeface="Garet Bold"/>
                <a:ea typeface="Garet Bold"/>
                <a:cs typeface="Garet Bold"/>
                <a:sym typeface="Garet Bold"/>
              </a:rPr>
              <a:t>automatiques</a:t>
            </a:r>
            <a:endParaRPr lang="en-US" sz="2400" b="1" spc="-195" dirty="0">
              <a:solidFill>
                <a:srgbClr val="171717"/>
              </a:solidFill>
              <a:latin typeface="Garet Bold"/>
              <a:ea typeface="Garet Bold"/>
              <a:cs typeface="Garet Bold"/>
              <a:sym typeface="Garet Bold"/>
            </a:endParaRPr>
          </a:p>
          <a:p>
            <a:pPr algn="ctr">
              <a:lnSpc>
                <a:spcPts val="4200"/>
              </a:lnSpc>
              <a:spcBef>
                <a:spcPct val="0"/>
              </a:spcBef>
            </a:pPr>
            <a:r>
              <a:rPr lang="en-US" sz="2400" b="1" spc="-195" dirty="0">
                <a:solidFill>
                  <a:srgbClr val="171717"/>
                </a:solidFill>
                <a:latin typeface="Garet Bold"/>
                <a:ea typeface="Garet Bold"/>
                <a:cs typeface="Garet Bold"/>
                <a:sym typeface="Garet Bold"/>
              </a:rPr>
              <a:t>Badge orange </a:t>
            </a:r>
            <a:r>
              <a:rPr lang="en-US" sz="2400" b="1" spc="-195" dirty="0" err="1">
                <a:solidFill>
                  <a:srgbClr val="171717"/>
                </a:solidFill>
                <a:latin typeface="Garet Bold"/>
                <a:ea typeface="Garet Bold"/>
                <a:cs typeface="Garet Bold"/>
                <a:sym typeface="Garet Bold"/>
              </a:rPr>
              <a:t>si</a:t>
            </a:r>
            <a:r>
              <a:rPr lang="en-US" sz="2400" b="1" spc="-195" dirty="0">
                <a:solidFill>
                  <a:srgbClr val="171717"/>
                </a:solidFill>
                <a:latin typeface="Garet Bold"/>
                <a:ea typeface="Garet Bold"/>
                <a:cs typeface="Garet Bold"/>
                <a:sym typeface="Garet Bold"/>
              </a:rPr>
              <a:t> stock ≤ </a:t>
            </a:r>
            <a:r>
              <a:rPr lang="en-US" sz="2400" b="1" spc="-195" dirty="0" err="1">
                <a:solidFill>
                  <a:srgbClr val="171717"/>
                </a:solidFill>
                <a:latin typeface="Garet Bold"/>
                <a:ea typeface="Garet Bold"/>
                <a:cs typeface="Garet Bold"/>
                <a:sym typeface="Garet Bold"/>
              </a:rPr>
              <a:t>seuil</a:t>
            </a:r>
            <a:r>
              <a:rPr lang="en-US" sz="2400" b="1" spc="-195" dirty="0">
                <a:solidFill>
                  <a:srgbClr val="171717"/>
                </a:solidFill>
                <a:latin typeface="Garet Bold"/>
                <a:ea typeface="Garet Bold"/>
                <a:cs typeface="Garet Bold"/>
                <a:sym typeface="Garet Bold"/>
              </a:rPr>
              <a:t> minimum</a:t>
            </a:r>
          </a:p>
          <a:p>
            <a:pPr algn="ctr">
              <a:lnSpc>
                <a:spcPts val="4200"/>
              </a:lnSpc>
              <a:spcBef>
                <a:spcPct val="0"/>
              </a:spcBef>
            </a:pPr>
            <a:r>
              <a:rPr lang="en-US" sz="2400" b="1" spc="-195" dirty="0">
                <a:solidFill>
                  <a:srgbClr val="171717"/>
                </a:solidFill>
                <a:latin typeface="Garet Bold"/>
                <a:ea typeface="Garet Bold"/>
                <a:cs typeface="Garet Bold"/>
                <a:sym typeface="Garet Bold"/>
              </a:rPr>
              <a:t>Badge vert </a:t>
            </a:r>
            <a:r>
              <a:rPr lang="en-US" sz="2400" b="1" spc="-195" dirty="0" err="1">
                <a:solidFill>
                  <a:srgbClr val="171717"/>
                </a:solidFill>
                <a:latin typeface="Garet Bold"/>
                <a:ea typeface="Garet Bold"/>
                <a:cs typeface="Garet Bold"/>
                <a:sym typeface="Garet Bold"/>
              </a:rPr>
              <a:t>si</a:t>
            </a:r>
            <a:r>
              <a:rPr lang="en-US" sz="2400" b="1" spc="-195" dirty="0">
                <a:solidFill>
                  <a:srgbClr val="171717"/>
                </a:solidFill>
                <a:latin typeface="Garet Bold"/>
                <a:ea typeface="Garet Bold"/>
                <a:cs typeface="Garet Bold"/>
                <a:sym typeface="Garet Bold"/>
              </a:rPr>
              <a:t> stock normal</a:t>
            </a:r>
          </a:p>
          <a:p>
            <a:pPr algn="ctr">
              <a:lnSpc>
                <a:spcPts val="4200"/>
              </a:lnSpc>
              <a:spcBef>
                <a:spcPct val="0"/>
              </a:spcBef>
            </a:pPr>
            <a:endParaRPr lang="en-US" sz="2400" b="1" spc="-195" dirty="0">
              <a:solidFill>
                <a:srgbClr val="171717"/>
              </a:solidFill>
              <a:latin typeface="Garet Bold"/>
              <a:ea typeface="Garet Bold"/>
              <a:cs typeface="Garet Bold"/>
              <a:sym typeface="Garet Bold"/>
            </a:endParaRPr>
          </a:p>
        </p:txBody>
      </p:sp>
      <p:sp>
        <p:nvSpPr>
          <p:cNvPr id="6" name="Freeform 6"/>
          <p:cNvSpPr/>
          <p:nvPr/>
        </p:nvSpPr>
        <p:spPr>
          <a:xfrm>
            <a:off x="13691086" y="5800870"/>
            <a:ext cx="5227008" cy="5246085"/>
          </a:xfrm>
          <a:custGeom>
            <a:avLst/>
            <a:gdLst/>
            <a:ahLst/>
            <a:cxnLst/>
            <a:rect l="l" t="t" r="r" b="b"/>
            <a:pathLst>
              <a:path w="5227008" h="5246085">
                <a:moveTo>
                  <a:pt x="0" y="0"/>
                </a:moveTo>
                <a:lnTo>
                  <a:pt x="5227008" y="0"/>
                </a:lnTo>
                <a:lnTo>
                  <a:pt x="5227008" y="5246085"/>
                </a:lnTo>
                <a:lnTo>
                  <a:pt x="0" y="5246085"/>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0" y="5823003"/>
            <a:ext cx="11753241" cy="4463997"/>
          </a:xfrm>
          <a:custGeom>
            <a:avLst/>
            <a:gdLst/>
            <a:ahLst/>
            <a:cxnLst/>
            <a:rect l="l" t="t" r="r" b="b"/>
            <a:pathLst>
              <a:path w="11753241" h="4463997">
                <a:moveTo>
                  <a:pt x="0" y="0"/>
                </a:moveTo>
                <a:lnTo>
                  <a:pt x="11753241" y="0"/>
                </a:lnTo>
                <a:lnTo>
                  <a:pt x="11753241" y="4463997"/>
                </a:lnTo>
                <a:lnTo>
                  <a:pt x="0" y="4463997"/>
                </a:lnTo>
                <a:lnTo>
                  <a:pt x="0" y="0"/>
                </a:lnTo>
                <a:close/>
              </a:path>
            </a:pathLst>
          </a:custGeom>
          <a:blipFill>
            <a:blip r:embed="rId2"/>
            <a:stretch>
              <a:fillRect t="-2932" r="-1794" b="-2932"/>
            </a:stretch>
          </a:blipFill>
        </p:spPr>
        <p:txBody>
          <a:bodyPr/>
          <a:lstStyle/>
          <a:p>
            <a:endParaRPr lang="en-US"/>
          </a:p>
        </p:txBody>
      </p:sp>
      <p:sp>
        <p:nvSpPr>
          <p:cNvPr id="3" name="TextBox 3"/>
          <p:cNvSpPr txBox="1"/>
          <p:nvPr/>
        </p:nvSpPr>
        <p:spPr>
          <a:xfrm>
            <a:off x="6750880" y="962517"/>
            <a:ext cx="13343762" cy="2479674"/>
          </a:xfrm>
          <a:prstGeom prst="rect">
            <a:avLst/>
          </a:prstGeom>
        </p:spPr>
        <p:txBody>
          <a:bodyPr lIns="0" tIns="0" rIns="0" bIns="0" rtlCol="0" anchor="t">
            <a:spAutoFit/>
          </a:bodyPr>
          <a:lstStyle/>
          <a:p>
            <a:pPr marL="0" lvl="0" indent="0" algn="ctr">
              <a:lnSpc>
                <a:spcPts val="9499"/>
              </a:lnSpc>
              <a:spcBef>
                <a:spcPct val="0"/>
              </a:spcBef>
            </a:pPr>
            <a:r>
              <a:rPr lang="en-US" sz="9999" b="1" u="none" strike="noStrike" spc="-649">
                <a:solidFill>
                  <a:srgbClr val="F1EEEA"/>
                </a:solidFill>
                <a:latin typeface="Garet Bold"/>
                <a:ea typeface="Garet Bold"/>
                <a:cs typeface="Garet Bold"/>
                <a:sym typeface="Garet Bold"/>
              </a:rPr>
              <a:t>Gestion des Fournisseurs</a:t>
            </a:r>
          </a:p>
        </p:txBody>
      </p:sp>
      <p:sp>
        <p:nvSpPr>
          <p:cNvPr id="4" name="TextBox 4"/>
          <p:cNvSpPr txBox="1"/>
          <p:nvPr/>
        </p:nvSpPr>
        <p:spPr>
          <a:xfrm>
            <a:off x="12429124" y="4359275"/>
            <a:ext cx="5564882" cy="4899025"/>
          </a:xfrm>
          <a:prstGeom prst="rect">
            <a:avLst/>
          </a:prstGeom>
        </p:spPr>
        <p:txBody>
          <a:bodyPr lIns="0" tIns="0" rIns="0" bIns="0" rtlCol="0" anchor="t">
            <a:spAutoFit/>
          </a:bodyPr>
          <a:lstStyle/>
          <a:p>
            <a:pPr algn="ctr">
              <a:lnSpc>
                <a:spcPts val="5599"/>
              </a:lnSpc>
              <a:spcBef>
                <a:spcPct val="0"/>
              </a:spcBef>
            </a:pPr>
            <a:r>
              <a:rPr lang="en-US" sz="3999" b="1" spc="-259">
                <a:solidFill>
                  <a:srgbClr val="F1EEEA"/>
                </a:solidFill>
                <a:latin typeface="Garet Bold"/>
                <a:ea typeface="Garet Bold"/>
                <a:cs typeface="Garet Bold"/>
                <a:sym typeface="Garet Bold"/>
              </a:rPr>
              <a:t>Liste des fournisseurs</a:t>
            </a:r>
          </a:p>
          <a:p>
            <a:pPr algn="ctr">
              <a:lnSpc>
                <a:spcPts val="5599"/>
              </a:lnSpc>
              <a:spcBef>
                <a:spcPct val="0"/>
              </a:spcBef>
            </a:pPr>
            <a:r>
              <a:rPr lang="en-US" sz="3999" b="1" spc="-259">
                <a:solidFill>
                  <a:srgbClr val="F1EEEA"/>
                </a:solidFill>
                <a:latin typeface="Garet Bold"/>
                <a:ea typeface="Garet Bold"/>
                <a:cs typeface="Garet Bold"/>
                <a:sym typeface="Garet Bold"/>
              </a:rPr>
              <a:t>Informations affichées :</a:t>
            </a:r>
          </a:p>
          <a:p>
            <a:pPr algn="ctr">
              <a:lnSpc>
                <a:spcPts val="5599"/>
              </a:lnSpc>
              <a:spcBef>
                <a:spcPct val="0"/>
              </a:spcBef>
            </a:pPr>
            <a:r>
              <a:rPr lang="en-US" sz="3999" b="1" spc="-259">
                <a:solidFill>
                  <a:srgbClr val="F1EEEA"/>
                </a:solidFill>
                <a:latin typeface="Garet Bold"/>
                <a:ea typeface="Garet Bold"/>
                <a:cs typeface="Garet Bold"/>
                <a:sym typeface="Garet Bold"/>
              </a:rPr>
              <a:t>Nom de l'entreprise</a:t>
            </a:r>
          </a:p>
          <a:p>
            <a:pPr algn="ctr">
              <a:lnSpc>
                <a:spcPts val="5599"/>
              </a:lnSpc>
              <a:spcBef>
                <a:spcPct val="0"/>
              </a:spcBef>
            </a:pPr>
            <a:r>
              <a:rPr lang="en-US" sz="3999" b="1" spc="-259">
                <a:solidFill>
                  <a:srgbClr val="F1EEEA"/>
                </a:solidFill>
                <a:latin typeface="Garet Bold"/>
                <a:ea typeface="Garet Bold"/>
                <a:cs typeface="Garet Bold"/>
                <a:sym typeface="Garet Bold"/>
              </a:rPr>
              <a:t>Personne de contact</a:t>
            </a:r>
          </a:p>
          <a:p>
            <a:pPr algn="ctr">
              <a:lnSpc>
                <a:spcPts val="5599"/>
              </a:lnSpc>
              <a:spcBef>
                <a:spcPct val="0"/>
              </a:spcBef>
            </a:pPr>
            <a:r>
              <a:rPr lang="en-US" sz="3999" b="1" spc="-259">
                <a:solidFill>
                  <a:srgbClr val="F1EEEA"/>
                </a:solidFill>
                <a:latin typeface="Garet Bold"/>
                <a:ea typeface="Garet Bold"/>
                <a:cs typeface="Garet Bold"/>
                <a:sym typeface="Garet Bold"/>
              </a:rPr>
              <a:t>Téléphone et Email</a:t>
            </a:r>
          </a:p>
          <a:p>
            <a:pPr algn="ctr">
              <a:lnSpc>
                <a:spcPts val="5599"/>
              </a:lnSpc>
              <a:spcBef>
                <a:spcPct val="0"/>
              </a:spcBef>
            </a:pPr>
            <a:r>
              <a:rPr lang="en-US" sz="3999" b="1" spc="-259">
                <a:solidFill>
                  <a:srgbClr val="F1EEEA"/>
                </a:solidFill>
                <a:latin typeface="Garet Bold"/>
                <a:ea typeface="Garet Bold"/>
                <a:cs typeface="Garet Bold"/>
                <a:sym typeface="Garet Bold"/>
              </a:rPr>
              <a:t>Adresse complète</a:t>
            </a:r>
          </a:p>
          <a:p>
            <a:pPr algn="ctr">
              <a:lnSpc>
                <a:spcPts val="5599"/>
              </a:lnSpc>
              <a:spcBef>
                <a:spcPct val="0"/>
              </a:spcBef>
            </a:pPr>
            <a:endParaRPr lang="en-US" sz="3999" b="1" spc="-259">
              <a:solidFill>
                <a:srgbClr val="F1EEEA"/>
              </a:solidFill>
              <a:latin typeface="Garet Bold"/>
              <a:ea typeface="Garet Bold"/>
              <a:cs typeface="Garet Bold"/>
              <a:sym typeface="Garet Bold"/>
            </a:endParaRPr>
          </a:p>
        </p:txBody>
      </p:sp>
      <p:sp>
        <p:nvSpPr>
          <p:cNvPr id="5" name="TextBox 5"/>
          <p:cNvSpPr txBox="1"/>
          <p:nvPr/>
        </p:nvSpPr>
        <p:spPr>
          <a:xfrm>
            <a:off x="-1261756" y="254491"/>
            <a:ext cx="10988441" cy="6308725"/>
          </a:xfrm>
          <a:prstGeom prst="rect">
            <a:avLst/>
          </a:prstGeom>
        </p:spPr>
        <p:txBody>
          <a:bodyPr lIns="0" tIns="0" rIns="0" bIns="0" rtlCol="0" anchor="t">
            <a:spAutoFit/>
          </a:bodyPr>
          <a:lstStyle/>
          <a:p>
            <a:pPr algn="ctr">
              <a:lnSpc>
                <a:spcPts val="5599"/>
              </a:lnSpc>
            </a:pPr>
            <a:r>
              <a:rPr lang="en-US" sz="3999" b="1" spc="-259">
                <a:solidFill>
                  <a:srgbClr val="F1EEEA"/>
                </a:solidFill>
                <a:latin typeface="Garet Bold"/>
                <a:ea typeface="Garet Bold"/>
                <a:cs typeface="Garet Bold"/>
                <a:sym typeface="Garet Bold"/>
              </a:rPr>
              <a:t>Formulaire d'ajout</a:t>
            </a:r>
          </a:p>
          <a:p>
            <a:pPr algn="ctr">
              <a:lnSpc>
                <a:spcPts val="5599"/>
              </a:lnSpc>
              <a:spcBef>
                <a:spcPct val="0"/>
              </a:spcBef>
            </a:pPr>
            <a:r>
              <a:rPr lang="en-US" sz="3999" b="1" spc="-259">
                <a:solidFill>
                  <a:srgbClr val="F1EEEA"/>
                </a:solidFill>
                <a:latin typeface="Garet Bold"/>
                <a:ea typeface="Garet Bold"/>
                <a:cs typeface="Garet Bold"/>
                <a:sym typeface="Garet Bold"/>
              </a:rPr>
              <a:t>Informations entreprise : Nom du fournisseur</a:t>
            </a:r>
          </a:p>
          <a:p>
            <a:pPr algn="ctr">
              <a:lnSpc>
                <a:spcPts val="5599"/>
              </a:lnSpc>
              <a:spcBef>
                <a:spcPct val="0"/>
              </a:spcBef>
            </a:pPr>
            <a:r>
              <a:rPr lang="en-US" sz="3999" b="1" spc="-259">
                <a:solidFill>
                  <a:srgbClr val="F1EEEA"/>
                </a:solidFill>
                <a:latin typeface="Garet Bold"/>
                <a:ea typeface="Garet Bold"/>
                <a:cs typeface="Garet Bold"/>
                <a:sym typeface="Garet Bold"/>
              </a:rPr>
              <a:t>Contact : Personne de contact, Téléphone, Email</a:t>
            </a:r>
          </a:p>
          <a:p>
            <a:pPr algn="ctr">
              <a:lnSpc>
                <a:spcPts val="5599"/>
              </a:lnSpc>
              <a:spcBef>
                <a:spcPct val="0"/>
              </a:spcBef>
            </a:pPr>
            <a:r>
              <a:rPr lang="en-US" sz="3999" b="1" spc="-259">
                <a:solidFill>
                  <a:srgbClr val="F1EEEA"/>
                </a:solidFill>
                <a:latin typeface="Garet Bold"/>
                <a:ea typeface="Garet Bold"/>
                <a:cs typeface="Garet Bold"/>
                <a:sym typeface="Garet Bold"/>
              </a:rPr>
              <a:t>Adresse : Adresse complète</a:t>
            </a:r>
          </a:p>
          <a:p>
            <a:pPr algn="ctr">
              <a:lnSpc>
                <a:spcPts val="5599"/>
              </a:lnSpc>
              <a:spcBef>
                <a:spcPct val="0"/>
              </a:spcBef>
            </a:pPr>
            <a:r>
              <a:rPr lang="en-US" sz="3999" b="1" spc="-259">
                <a:solidFill>
                  <a:srgbClr val="F1EEEA"/>
                </a:solidFill>
                <a:latin typeface="Garet Bold"/>
                <a:ea typeface="Garet Bold"/>
                <a:cs typeface="Garet Bold"/>
                <a:sym typeface="Garet Bold"/>
              </a:rPr>
              <a:t>Validation</a:t>
            </a:r>
          </a:p>
          <a:p>
            <a:pPr algn="ctr">
              <a:lnSpc>
                <a:spcPts val="5599"/>
              </a:lnSpc>
              <a:spcBef>
                <a:spcPct val="0"/>
              </a:spcBef>
            </a:pPr>
            <a:r>
              <a:rPr lang="en-US" sz="3999" b="1" spc="-259">
                <a:solidFill>
                  <a:srgbClr val="F1EEEA"/>
                </a:solidFill>
                <a:latin typeface="Garet Bold"/>
                <a:ea typeface="Garet Bold"/>
                <a:cs typeface="Garet Bold"/>
                <a:sym typeface="Garet Bold"/>
              </a:rPr>
              <a:t>Email valide requis</a:t>
            </a:r>
          </a:p>
          <a:p>
            <a:pPr algn="ctr">
              <a:lnSpc>
                <a:spcPts val="5599"/>
              </a:lnSpc>
              <a:spcBef>
                <a:spcPct val="0"/>
              </a:spcBef>
            </a:pPr>
            <a:r>
              <a:rPr lang="en-US" sz="3999" b="1" spc="-259">
                <a:solidFill>
                  <a:srgbClr val="F1EEEA"/>
                </a:solidFill>
                <a:latin typeface="Garet Bold"/>
                <a:ea typeface="Garet Bold"/>
                <a:cs typeface="Garet Bold"/>
                <a:sym typeface="Garet Bold"/>
              </a:rPr>
              <a:t>Téléphone valide requis</a:t>
            </a:r>
          </a:p>
          <a:p>
            <a:pPr algn="ctr">
              <a:lnSpc>
                <a:spcPts val="5599"/>
              </a:lnSpc>
              <a:spcBef>
                <a:spcPct val="0"/>
              </a:spcBef>
            </a:pPr>
            <a:endParaRPr lang="en-US" sz="3999" b="1" spc="-259">
              <a:solidFill>
                <a:srgbClr val="F1EEEA"/>
              </a:solidFill>
              <a:latin typeface="Garet Bold"/>
              <a:ea typeface="Garet Bold"/>
              <a:cs typeface="Garet Bold"/>
              <a:sym typeface="Garet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EEEA"/>
        </a:solidFill>
        <a:effectLst/>
      </p:bgPr>
    </p:bg>
    <p:spTree>
      <p:nvGrpSpPr>
        <p:cNvPr id="1" name=""/>
        <p:cNvGrpSpPr/>
        <p:nvPr/>
      </p:nvGrpSpPr>
      <p:grpSpPr>
        <a:xfrm>
          <a:off x="0" y="0"/>
          <a:ext cx="0" cy="0"/>
          <a:chOff x="0" y="0"/>
          <a:chExt cx="0" cy="0"/>
        </a:xfrm>
      </p:grpSpPr>
      <p:sp>
        <p:nvSpPr>
          <p:cNvPr id="2" name="Freeform 2"/>
          <p:cNvSpPr/>
          <p:nvPr/>
        </p:nvSpPr>
        <p:spPr>
          <a:xfrm>
            <a:off x="6986741" y="0"/>
            <a:ext cx="11301259" cy="4633516"/>
          </a:xfrm>
          <a:custGeom>
            <a:avLst/>
            <a:gdLst/>
            <a:ahLst/>
            <a:cxnLst/>
            <a:rect l="l" t="t" r="r" b="b"/>
            <a:pathLst>
              <a:path w="11301259" h="4633516">
                <a:moveTo>
                  <a:pt x="0" y="0"/>
                </a:moveTo>
                <a:lnTo>
                  <a:pt x="11301259" y="0"/>
                </a:lnTo>
                <a:lnTo>
                  <a:pt x="11301259" y="4633516"/>
                </a:lnTo>
                <a:lnTo>
                  <a:pt x="0" y="4633516"/>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37241" y="491881"/>
            <a:ext cx="8806759" cy="2230900"/>
          </a:xfrm>
          <a:prstGeom prst="rect">
            <a:avLst/>
          </a:prstGeom>
        </p:spPr>
        <p:txBody>
          <a:bodyPr lIns="0" tIns="0" rIns="0" bIns="0" rtlCol="0" anchor="t">
            <a:spAutoFit/>
          </a:bodyPr>
          <a:lstStyle/>
          <a:p>
            <a:pPr marL="0" lvl="0" indent="0" algn="l">
              <a:lnSpc>
                <a:spcPts val="8563"/>
              </a:lnSpc>
            </a:pPr>
            <a:r>
              <a:rPr lang="en-US" sz="9014" b="1" spc="-585">
                <a:solidFill>
                  <a:srgbClr val="171717"/>
                </a:solidFill>
                <a:latin typeface="Garet Bold"/>
                <a:ea typeface="Garet Bold"/>
                <a:cs typeface="Garet Bold"/>
                <a:sym typeface="Garet Bold"/>
              </a:rPr>
              <a:t>Gestion des Clients</a:t>
            </a:r>
          </a:p>
        </p:txBody>
      </p:sp>
      <p:sp>
        <p:nvSpPr>
          <p:cNvPr id="4" name="TextBox 4"/>
          <p:cNvSpPr txBox="1"/>
          <p:nvPr/>
        </p:nvSpPr>
        <p:spPr>
          <a:xfrm>
            <a:off x="-1513302" y="5076825"/>
            <a:ext cx="10278069" cy="4399759"/>
          </a:xfrm>
          <a:prstGeom prst="rect">
            <a:avLst/>
          </a:prstGeom>
        </p:spPr>
        <p:txBody>
          <a:bodyPr lIns="0" tIns="0" rIns="0" bIns="0" rtlCol="0" anchor="t">
            <a:spAutoFit/>
          </a:bodyPr>
          <a:lstStyle/>
          <a:p>
            <a:pPr algn="ctr">
              <a:lnSpc>
                <a:spcPts val="5021"/>
              </a:lnSpc>
            </a:pPr>
            <a:r>
              <a:rPr lang="en-US" sz="3586" b="1" spc="-233">
                <a:solidFill>
                  <a:srgbClr val="171717"/>
                </a:solidFill>
                <a:latin typeface="Garet Bold"/>
                <a:ea typeface="Garet Bold"/>
                <a:cs typeface="Garet Bold"/>
                <a:sym typeface="Garet Bold"/>
              </a:rPr>
              <a:t>Liste des clients</a:t>
            </a:r>
          </a:p>
          <a:p>
            <a:pPr algn="ctr">
              <a:lnSpc>
                <a:spcPts val="5021"/>
              </a:lnSpc>
              <a:spcBef>
                <a:spcPct val="0"/>
              </a:spcBef>
            </a:pPr>
            <a:r>
              <a:rPr lang="en-US" sz="3586" b="1" spc="-233">
                <a:solidFill>
                  <a:srgbClr val="171717"/>
                </a:solidFill>
                <a:latin typeface="Garet Bold"/>
                <a:ea typeface="Garet Bold"/>
                <a:cs typeface="Garet Bold"/>
                <a:sym typeface="Garet Bold"/>
              </a:rPr>
              <a:t>Données affichées :</a:t>
            </a:r>
          </a:p>
          <a:p>
            <a:pPr algn="ctr">
              <a:lnSpc>
                <a:spcPts val="5021"/>
              </a:lnSpc>
              <a:spcBef>
                <a:spcPct val="0"/>
              </a:spcBef>
            </a:pPr>
            <a:r>
              <a:rPr lang="en-US" sz="3586" b="1" spc="-233">
                <a:solidFill>
                  <a:srgbClr val="171717"/>
                </a:solidFill>
                <a:latin typeface="Garet Bold"/>
                <a:ea typeface="Garet Bold"/>
                <a:cs typeface="Garet Bold"/>
                <a:sym typeface="Garet Bold"/>
              </a:rPr>
              <a:t>Nom/Entreprise</a:t>
            </a:r>
          </a:p>
          <a:p>
            <a:pPr algn="ctr">
              <a:lnSpc>
                <a:spcPts val="5021"/>
              </a:lnSpc>
              <a:spcBef>
                <a:spcPct val="0"/>
              </a:spcBef>
            </a:pPr>
            <a:r>
              <a:rPr lang="en-US" sz="3586" b="1" spc="-233">
                <a:solidFill>
                  <a:srgbClr val="171717"/>
                </a:solidFill>
                <a:latin typeface="Garet Bold"/>
                <a:ea typeface="Garet Bold"/>
                <a:cs typeface="Garet Bold"/>
                <a:sym typeface="Garet Bold"/>
              </a:rPr>
              <a:t>Téléphone et Email</a:t>
            </a:r>
          </a:p>
          <a:p>
            <a:pPr algn="ctr">
              <a:lnSpc>
                <a:spcPts val="5021"/>
              </a:lnSpc>
              <a:spcBef>
                <a:spcPct val="0"/>
              </a:spcBef>
            </a:pPr>
            <a:r>
              <a:rPr lang="en-US" sz="3586" b="1" spc="-233">
                <a:solidFill>
                  <a:srgbClr val="171717"/>
                </a:solidFill>
                <a:latin typeface="Garet Bold"/>
                <a:ea typeface="Garet Bold"/>
                <a:cs typeface="Garet Bold"/>
                <a:sym typeface="Garet Bold"/>
              </a:rPr>
              <a:t>Nombre de commandes passées</a:t>
            </a:r>
          </a:p>
          <a:p>
            <a:pPr algn="ctr">
              <a:lnSpc>
                <a:spcPts val="5021"/>
              </a:lnSpc>
              <a:spcBef>
                <a:spcPct val="0"/>
              </a:spcBef>
            </a:pPr>
            <a:r>
              <a:rPr lang="en-US" sz="3586" b="1" spc="-233">
                <a:solidFill>
                  <a:srgbClr val="171717"/>
                </a:solidFill>
                <a:latin typeface="Garet Bold"/>
                <a:ea typeface="Garet Bold"/>
                <a:cs typeface="Garet Bold"/>
                <a:sym typeface="Garet Bold"/>
              </a:rPr>
              <a:t>Montant total dépensé</a:t>
            </a:r>
          </a:p>
          <a:p>
            <a:pPr algn="ctr">
              <a:lnSpc>
                <a:spcPts val="5021"/>
              </a:lnSpc>
              <a:spcBef>
                <a:spcPct val="0"/>
              </a:spcBef>
            </a:pPr>
            <a:endParaRPr lang="en-US" sz="3586" b="1" spc="-233">
              <a:solidFill>
                <a:srgbClr val="171717"/>
              </a:solidFill>
              <a:latin typeface="Garet Bold"/>
              <a:ea typeface="Garet Bold"/>
              <a:cs typeface="Garet Bold"/>
              <a:sym typeface="Garet Bold"/>
            </a:endParaRPr>
          </a:p>
        </p:txBody>
      </p:sp>
      <p:sp>
        <p:nvSpPr>
          <p:cNvPr id="5" name="TextBox 5"/>
          <p:cNvSpPr txBox="1"/>
          <p:nvPr/>
        </p:nvSpPr>
        <p:spPr>
          <a:xfrm>
            <a:off x="11900132" y="5403829"/>
            <a:ext cx="5954018" cy="3489325"/>
          </a:xfrm>
          <a:prstGeom prst="rect">
            <a:avLst/>
          </a:prstGeom>
        </p:spPr>
        <p:txBody>
          <a:bodyPr lIns="0" tIns="0" rIns="0" bIns="0" rtlCol="0" anchor="t">
            <a:spAutoFit/>
          </a:bodyPr>
          <a:lstStyle/>
          <a:p>
            <a:pPr algn="ctr">
              <a:lnSpc>
                <a:spcPts val="5599"/>
              </a:lnSpc>
              <a:spcBef>
                <a:spcPct val="0"/>
              </a:spcBef>
            </a:pPr>
            <a:r>
              <a:rPr lang="en-US" sz="3999" b="1" spc="-259">
                <a:solidFill>
                  <a:srgbClr val="171717"/>
                </a:solidFill>
                <a:latin typeface="Garet Bold"/>
                <a:ea typeface="Garet Bold"/>
                <a:cs typeface="Garet Bold"/>
                <a:sym typeface="Garet Bold"/>
              </a:rPr>
              <a:t>Formulaire d'ajout :</a:t>
            </a:r>
          </a:p>
          <a:p>
            <a:pPr algn="ctr">
              <a:lnSpc>
                <a:spcPts val="5599"/>
              </a:lnSpc>
              <a:spcBef>
                <a:spcPct val="0"/>
              </a:spcBef>
            </a:pPr>
            <a:r>
              <a:rPr lang="en-US" sz="3999" b="1" spc="-259">
                <a:solidFill>
                  <a:srgbClr val="171717"/>
                </a:solidFill>
                <a:latin typeface="Garet Bold"/>
                <a:ea typeface="Garet Bold"/>
                <a:cs typeface="Garet Bold"/>
                <a:sym typeface="Garet Bold"/>
              </a:rPr>
              <a:t>Nom ou nom d'entreprise</a:t>
            </a:r>
          </a:p>
          <a:p>
            <a:pPr algn="ctr">
              <a:lnSpc>
                <a:spcPts val="5599"/>
              </a:lnSpc>
              <a:spcBef>
                <a:spcPct val="0"/>
              </a:spcBef>
            </a:pPr>
            <a:r>
              <a:rPr lang="en-US" sz="3999" b="1" spc="-259">
                <a:solidFill>
                  <a:srgbClr val="171717"/>
                </a:solidFill>
                <a:latin typeface="Garet Bold"/>
                <a:ea typeface="Garet Bold"/>
                <a:cs typeface="Garet Bold"/>
                <a:sym typeface="Garet Bold"/>
              </a:rPr>
              <a:t>Coordonnées complètes</a:t>
            </a:r>
          </a:p>
          <a:p>
            <a:pPr algn="ctr">
              <a:lnSpc>
                <a:spcPts val="5599"/>
              </a:lnSpc>
              <a:spcBef>
                <a:spcPct val="0"/>
              </a:spcBef>
            </a:pPr>
            <a:r>
              <a:rPr lang="en-US" sz="3999" b="1" spc="-259">
                <a:solidFill>
                  <a:srgbClr val="171717"/>
                </a:solidFill>
                <a:latin typeface="Garet Bold"/>
                <a:ea typeface="Garet Bold"/>
                <a:cs typeface="Garet Bold"/>
                <a:sym typeface="Garet Bold"/>
              </a:rPr>
              <a:t>Adresse de livraison</a:t>
            </a:r>
          </a:p>
          <a:p>
            <a:pPr algn="ctr">
              <a:lnSpc>
                <a:spcPts val="5599"/>
              </a:lnSpc>
              <a:spcBef>
                <a:spcPct val="0"/>
              </a:spcBef>
            </a:pPr>
            <a:endParaRPr lang="en-US" sz="3999" b="1" spc="-259">
              <a:solidFill>
                <a:srgbClr val="171717"/>
              </a:solidFill>
              <a:latin typeface="Garet Bold"/>
              <a:ea typeface="Garet Bold"/>
              <a:cs typeface="Garet Bold"/>
              <a:sym typeface="Garet Bold"/>
            </a:endParaRPr>
          </a:p>
        </p:txBody>
      </p:sp>
      <p:sp>
        <p:nvSpPr>
          <p:cNvPr id="6" name="Freeform 6"/>
          <p:cNvSpPr/>
          <p:nvPr/>
        </p:nvSpPr>
        <p:spPr>
          <a:xfrm rot="168767">
            <a:off x="7076596" y="5000944"/>
            <a:ext cx="4733681" cy="3778338"/>
          </a:xfrm>
          <a:custGeom>
            <a:avLst/>
            <a:gdLst/>
            <a:ahLst/>
            <a:cxnLst/>
            <a:rect l="l" t="t" r="r" b="b"/>
            <a:pathLst>
              <a:path w="4733681" h="3778338">
                <a:moveTo>
                  <a:pt x="0" y="0"/>
                </a:moveTo>
                <a:lnTo>
                  <a:pt x="4733681" y="0"/>
                </a:lnTo>
                <a:lnTo>
                  <a:pt x="4733681" y="3778339"/>
                </a:lnTo>
                <a:lnTo>
                  <a:pt x="0" y="37783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0" y="5927663"/>
            <a:ext cx="14404867" cy="4359337"/>
          </a:xfrm>
          <a:custGeom>
            <a:avLst/>
            <a:gdLst/>
            <a:ahLst/>
            <a:cxnLst/>
            <a:rect l="l" t="t" r="r" b="b"/>
            <a:pathLst>
              <a:path w="14404867" h="4359337">
                <a:moveTo>
                  <a:pt x="0" y="0"/>
                </a:moveTo>
                <a:lnTo>
                  <a:pt x="14404867" y="0"/>
                </a:lnTo>
                <a:lnTo>
                  <a:pt x="14404867" y="4359337"/>
                </a:lnTo>
                <a:lnTo>
                  <a:pt x="0" y="4359337"/>
                </a:lnTo>
                <a:lnTo>
                  <a:pt x="0" y="0"/>
                </a:lnTo>
                <a:close/>
              </a:path>
            </a:pathLst>
          </a:custGeom>
          <a:blipFill>
            <a:blip r:embed="rId2"/>
            <a:stretch>
              <a:fillRect t="-2374" b="-1299"/>
            </a:stretch>
          </a:blipFill>
        </p:spPr>
        <p:txBody>
          <a:bodyPr/>
          <a:lstStyle/>
          <a:p>
            <a:endParaRPr lang="en-US"/>
          </a:p>
        </p:txBody>
      </p:sp>
      <p:sp>
        <p:nvSpPr>
          <p:cNvPr id="3" name="TextBox 3"/>
          <p:cNvSpPr txBox="1"/>
          <p:nvPr/>
        </p:nvSpPr>
        <p:spPr>
          <a:xfrm>
            <a:off x="215133" y="219075"/>
            <a:ext cx="12064145" cy="2238375"/>
          </a:xfrm>
          <a:prstGeom prst="rect">
            <a:avLst/>
          </a:prstGeom>
        </p:spPr>
        <p:txBody>
          <a:bodyPr lIns="0" tIns="0" rIns="0" bIns="0" rtlCol="0" anchor="t">
            <a:spAutoFit/>
          </a:bodyPr>
          <a:lstStyle/>
          <a:p>
            <a:pPr marL="0" lvl="0" indent="0" algn="l">
              <a:lnSpc>
                <a:spcPts val="8550"/>
              </a:lnSpc>
              <a:spcBef>
                <a:spcPct val="0"/>
              </a:spcBef>
            </a:pPr>
            <a:r>
              <a:rPr lang="en-US" sz="9000" b="1" spc="-585">
                <a:solidFill>
                  <a:srgbClr val="F1EEEA"/>
                </a:solidFill>
                <a:latin typeface="Garet Bold"/>
                <a:ea typeface="Garet Bold"/>
                <a:cs typeface="Garet Bold"/>
                <a:sym typeface="Garet Bold"/>
              </a:rPr>
              <a:t>Gestion des Commandes :</a:t>
            </a:r>
          </a:p>
        </p:txBody>
      </p:sp>
      <p:sp>
        <p:nvSpPr>
          <p:cNvPr id="4" name="TextBox 4"/>
          <p:cNvSpPr txBox="1"/>
          <p:nvPr/>
        </p:nvSpPr>
        <p:spPr>
          <a:xfrm>
            <a:off x="11728549" y="130175"/>
            <a:ext cx="6559451" cy="9128125"/>
          </a:xfrm>
          <a:prstGeom prst="rect">
            <a:avLst/>
          </a:prstGeom>
        </p:spPr>
        <p:txBody>
          <a:bodyPr lIns="0" tIns="0" rIns="0" bIns="0" rtlCol="0" anchor="t">
            <a:spAutoFit/>
          </a:bodyPr>
          <a:lstStyle/>
          <a:p>
            <a:pPr algn="ctr">
              <a:lnSpc>
                <a:spcPts val="5599"/>
              </a:lnSpc>
            </a:pPr>
            <a:r>
              <a:rPr lang="en-US" sz="3999" b="1" spc="-259">
                <a:solidFill>
                  <a:srgbClr val="F1EEEA"/>
                </a:solidFill>
                <a:latin typeface="Garet Bold"/>
                <a:ea typeface="Garet Bold"/>
                <a:cs typeface="Garet Bold"/>
                <a:sym typeface="Garet Bold"/>
              </a:rPr>
              <a:t>Liste des commandes</a:t>
            </a:r>
          </a:p>
          <a:p>
            <a:pPr algn="ctr">
              <a:lnSpc>
                <a:spcPts val="5599"/>
              </a:lnSpc>
              <a:spcBef>
                <a:spcPct val="0"/>
              </a:spcBef>
            </a:pPr>
            <a:r>
              <a:rPr lang="en-US" sz="3999" b="1" spc="-259">
                <a:solidFill>
                  <a:srgbClr val="F1EEEA"/>
                </a:solidFill>
                <a:latin typeface="Garet Bold"/>
                <a:ea typeface="Garet Bold"/>
                <a:cs typeface="Garet Bold"/>
                <a:sym typeface="Garet Bold"/>
              </a:rPr>
              <a:t>Informations :</a:t>
            </a:r>
          </a:p>
          <a:p>
            <a:pPr algn="ctr">
              <a:lnSpc>
                <a:spcPts val="5599"/>
              </a:lnSpc>
              <a:spcBef>
                <a:spcPct val="0"/>
              </a:spcBef>
            </a:pPr>
            <a:r>
              <a:rPr lang="en-US" sz="3999" b="1" spc="-259">
                <a:solidFill>
                  <a:srgbClr val="F1EEEA"/>
                </a:solidFill>
                <a:latin typeface="Garet Bold"/>
                <a:ea typeface="Garet Bold"/>
                <a:cs typeface="Garet Bold"/>
                <a:sym typeface="Garet Bold"/>
              </a:rPr>
              <a:t>Numéro de commande</a:t>
            </a:r>
          </a:p>
          <a:p>
            <a:pPr algn="ctr">
              <a:lnSpc>
                <a:spcPts val="5599"/>
              </a:lnSpc>
              <a:spcBef>
                <a:spcPct val="0"/>
              </a:spcBef>
            </a:pPr>
            <a:r>
              <a:rPr lang="en-US" sz="3999" b="1" spc="-259">
                <a:solidFill>
                  <a:srgbClr val="F1EEEA"/>
                </a:solidFill>
                <a:latin typeface="Garet Bold"/>
                <a:ea typeface="Garet Bold"/>
                <a:cs typeface="Garet Bold"/>
                <a:sym typeface="Garet Bold"/>
              </a:rPr>
              <a:t>Client associé</a:t>
            </a:r>
          </a:p>
          <a:p>
            <a:pPr algn="ctr">
              <a:lnSpc>
                <a:spcPts val="5599"/>
              </a:lnSpc>
              <a:spcBef>
                <a:spcPct val="0"/>
              </a:spcBef>
            </a:pPr>
            <a:r>
              <a:rPr lang="en-US" sz="3999" b="1" spc="-259">
                <a:solidFill>
                  <a:srgbClr val="F1EEEA"/>
                </a:solidFill>
                <a:latin typeface="Garet Bold"/>
                <a:ea typeface="Garet Bold"/>
                <a:cs typeface="Garet Bold"/>
                <a:sym typeface="Garet Bold"/>
              </a:rPr>
              <a:t>Date de la commande</a:t>
            </a:r>
          </a:p>
          <a:p>
            <a:pPr algn="ctr">
              <a:lnSpc>
                <a:spcPts val="5599"/>
              </a:lnSpc>
              <a:spcBef>
                <a:spcPct val="0"/>
              </a:spcBef>
            </a:pPr>
            <a:r>
              <a:rPr lang="en-US" sz="3999" b="1" spc="-259">
                <a:solidFill>
                  <a:srgbClr val="F1EEEA"/>
                </a:solidFill>
                <a:latin typeface="Garet Bold"/>
                <a:ea typeface="Garet Bold"/>
                <a:cs typeface="Garet Bold"/>
                <a:sym typeface="Garet Bold"/>
              </a:rPr>
              <a:t>Liste des produits</a:t>
            </a:r>
          </a:p>
          <a:p>
            <a:pPr algn="ctr">
              <a:lnSpc>
                <a:spcPts val="5599"/>
              </a:lnSpc>
              <a:spcBef>
                <a:spcPct val="0"/>
              </a:spcBef>
            </a:pPr>
            <a:r>
              <a:rPr lang="en-US" sz="3999" b="1" spc="-259">
                <a:solidFill>
                  <a:srgbClr val="F1EEEA"/>
                </a:solidFill>
                <a:latin typeface="Garet Bold"/>
                <a:ea typeface="Garet Bold"/>
                <a:cs typeface="Garet Bold"/>
                <a:sym typeface="Garet Bold"/>
              </a:rPr>
              <a:t>Montant total</a:t>
            </a:r>
          </a:p>
          <a:p>
            <a:pPr algn="ctr">
              <a:lnSpc>
                <a:spcPts val="5599"/>
              </a:lnSpc>
              <a:spcBef>
                <a:spcPct val="0"/>
              </a:spcBef>
            </a:pPr>
            <a:r>
              <a:rPr lang="en-US" sz="3999" b="1" spc="-259">
                <a:solidFill>
                  <a:srgbClr val="F1EEEA"/>
                </a:solidFill>
                <a:latin typeface="Garet Bold"/>
                <a:ea typeface="Garet Bold"/>
                <a:cs typeface="Garet Bold"/>
                <a:sym typeface="Garet Bold"/>
              </a:rPr>
              <a:t>Statut avec badges colorés :</a:t>
            </a:r>
          </a:p>
          <a:p>
            <a:pPr algn="ctr">
              <a:lnSpc>
                <a:spcPts val="5599"/>
              </a:lnSpc>
              <a:spcBef>
                <a:spcPct val="0"/>
              </a:spcBef>
            </a:pPr>
            <a:r>
              <a:rPr lang="en-US" sz="3999" b="1" spc="-259">
                <a:solidFill>
                  <a:srgbClr val="F1EEEA"/>
                </a:solidFill>
                <a:latin typeface="Garet Bold"/>
                <a:ea typeface="Garet Bold"/>
                <a:cs typeface="Garet Bold"/>
                <a:sym typeface="Garet Bold"/>
              </a:rPr>
              <a:t>                         🟡 En attente</a:t>
            </a:r>
          </a:p>
          <a:p>
            <a:pPr algn="ctr">
              <a:lnSpc>
                <a:spcPts val="5599"/>
              </a:lnSpc>
              <a:spcBef>
                <a:spcPct val="0"/>
              </a:spcBef>
            </a:pPr>
            <a:r>
              <a:rPr lang="en-US" sz="3999" b="1" spc="-259">
                <a:solidFill>
                  <a:srgbClr val="F1EEEA"/>
                </a:solidFill>
                <a:latin typeface="Garet Bold"/>
                <a:ea typeface="Garet Bold"/>
                <a:cs typeface="Garet Bold"/>
                <a:sym typeface="Garet Bold"/>
              </a:rPr>
              <a:t>                    🔵 En cours</a:t>
            </a:r>
          </a:p>
          <a:p>
            <a:pPr algn="ctr">
              <a:lnSpc>
                <a:spcPts val="5599"/>
              </a:lnSpc>
              <a:spcBef>
                <a:spcPct val="0"/>
              </a:spcBef>
            </a:pPr>
            <a:r>
              <a:rPr lang="en-US" sz="3999" b="1" spc="-259">
                <a:solidFill>
                  <a:srgbClr val="F1EEEA"/>
                </a:solidFill>
                <a:latin typeface="Garet Bold"/>
                <a:ea typeface="Garet Bold"/>
                <a:cs typeface="Garet Bold"/>
                <a:sym typeface="Garet Bold"/>
              </a:rPr>
              <a:t>                       🟢 Terminée</a:t>
            </a:r>
          </a:p>
          <a:p>
            <a:pPr algn="ctr">
              <a:lnSpc>
                <a:spcPts val="5599"/>
              </a:lnSpc>
              <a:spcBef>
                <a:spcPct val="0"/>
              </a:spcBef>
            </a:pPr>
            <a:r>
              <a:rPr lang="en-US" sz="3999" b="1" spc="-259">
                <a:solidFill>
                  <a:srgbClr val="F1EEEA"/>
                </a:solidFill>
                <a:latin typeface="Garet Bold"/>
                <a:ea typeface="Garet Bold"/>
                <a:cs typeface="Garet Bold"/>
                <a:sym typeface="Garet Bold"/>
              </a:rPr>
              <a:t>                    🔴 Annulée</a:t>
            </a:r>
          </a:p>
          <a:p>
            <a:pPr algn="ctr">
              <a:lnSpc>
                <a:spcPts val="5599"/>
              </a:lnSpc>
              <a:spcBef>
                <a:spcPct val="0"/>
              </a:spcBef>
            </a:pPr>
            <a:endParaRPr lang="en-US" sz="3999" b="1" spc="-259">
              <a:solidFill>
                <a:srgbClr val="F1EEEA"/>
              </a:solidFill>
              <a:latin typeface="Garet Bold"/>
              <a:ea typeface="Garet Bold"/>
              <a:cs typeface="Garet Bold"/>
              <a:sym typeface="Garet Bold"/>
            </a:endParaRPr>
          </a:p>
        </p:txBody>
      </p:sp>
      <p:sp>
        <p:nvSpPr>
          <p:cNvPr id="5" name="TextBox 5"/>
          <p:cNvSpPr txBox="1"/>
          <p:nvPr/>
        </p:nvSpPr>
        <p:spPr>
          <a:xfrm>
            <a:off x="0" y="2627647"/>
            <a:ext cx="10676530" cy="3651443"/>
          </a:xfrm>
          <a:prstGeom prst="rect">
            <a:avLst/>
          </a:prstGeom>
        </p:spPr>
        <p:txBody>
          <a:bodyPr lIns="0" tIns="0" rIns="0" bIns="0" rtlCol="0" anchor="t">
            <a:spAutoFit/>
          </a:bodyPr>
          <a:lstStyle/>
          <a:p>
            <a:pPr algn="ctr">
              <a:lnSpc>
                <a:spcPts val="4876"/>
              </a:lnSpc>
            </a:pPr>
            <a:r>
              <a:rPr lang="en-US" sz="3483" b="1" spc="-226">
                <a:solidFill>
                  <a:srgbClr val="F1EEEA"/>
                </a:solidFill>
                <a:latin typeface="Garet Bold"/>
                <a:ea typeface="Garet Bold"/>
                <a:cs typeface="Garet Bold"/>
                <a:sym typeface="Garet Bold"/>
              </a:rPr>
              <a:t>Formulaire de commande</a:t>
            </a:r>
          </a:p>
          <a:p>
            <a:pPr marL="752036" lvl="1" indent="-376018" algn="ctr">
              <a:lnSpc>
                <a:spcPts val="4876"/>
              </a:lnSpc>
              <a:buAutoNum type="arabicPeriod"/>
            </a:pPr>
            <a:r>
              <a:rPr lang="en-US" sz="3483" b="1" spc="-226">
                <a:solidFill>
                  <a:srgbClr val="F1EEEA"/>
                </a:solidFill>
                <a:latin typeface="Garet Bold"/>
                <a:ea typeface="Garet Bold"/>
                <a:cs typeface="Garet Bold"/>
                <a:sym typeface="Garet Bold"/>
              </a:rPr>
              <a:t>Sélection du client et date</a:t>
            </a:r>
          </a:p>
          <a:p>
            <a:pPr marL="752036" lvl="1" indent="-376018" algn="ctr">
              <a:lnSpc>
                <a:spcPts val="4876"/>
              </a:lnSpc>
              <a:buAutoNum type="arabicPeriod"/>
            </a:pPr>
            <a:r>
              <a:rPr lang="en-US" sz="3483" b="1" spc="-226">
                <a:solidFill>
                  <a:srgbClr val="F1EEEA"/>
                </a:solidFill>
                <a:latin typeface="Garet Bold"/>
                <a:ea typeface="Garet Bold"/>
                <a:cs typeface="Garet Bold"/>
                <a:sym typeface="Garet Bold"/>
              </a:rPr>
              <a:t>Ajout de prouit</a:t>
            </a:r>
          </a:p>
          <a:p>
            <a:pPr marL="752036" lvl="1" indent="-376018" algn="ctr">
              <a:lnSpc>
                <a:spcPts val="4876"/>
              </a:lnSpc>
              <a:buAutoNum type="arabicPeriod"/>
            </a:pPr>
            <a:r>
              <a:rPr lang="en-US" sz="3483" b="1" spc="-226">
                <a:solidFill>
                  <a:srgbClr val="F1EEEA"/>
                </a:solidFill>
                <a:latin typeface="Garet Bold"/>
                <a:ea typeface="Garet Bold"/>
                <a:cs typeface="Garet Bold"/>
                <a:sym typeface="Garet Bold"/>
              </a:rPr>
              <a:t>Calcul automatique du total</a:t>
            </a:r>
          </a:p>
          <a:p>
            <a:pPr marL="752036" lvl="1" indent="-376018" algn="ctr">
              <a:lnSpc>
                <a:spcPts val="4876"/>
              </a:lnSpc>
              <a:buAutoNum type="arabicPeriod"/>
            </a:pPr>
            <a:r>
              <a:rPr lang="en-US" sz="3483" b="1" spc="-226">
                <a:solidFill>
                  <a:srgbClr val="F1EEEA"/>
                </a:solidFill>
                <a:latin typeface="Garet Bold"/>
                <a:ea typeface="Garet Bold"/>
                <a:cs typeface="Garet Bold"/>
                <a:sym typeface="Garet Bold"/>
              </a:rPr>
              <a:t>Statut et notes</a:t>
            </a:r>
          </a:p>
          <a:p>
            <a:pPr algn="ctr">
              <a:lnSpc>
                <a:spcPts val="4876"/>
              </a:lnSpc>
              <a:spcBef>
                <a:spcPct val="0"/>
              </a:spcBef>
            </a:pPr>
            <a:endParaRPr lang="en-US" sz="3483" b="1" spc="-226">
              <a:solidFill>
                <a:srgbClr val="F1EEEA"/>
              </a:solidFill>
              <a:latin typeface="Garet Bold"/>
              <a:ea typeface="Garet Bold"/>
              <a:cs typeface="Garet Bold"/>
              <a:sym typeface="Garet Bold"/>
            </a:endParaRPr>
          </a:p>
        </p:txBody>
      </p:sp>
      <p:sp>
        <p:nvSpPr>
          <p:cNvPr id="6" name="Freeform 6"/>
          <p:cNvSpPr/>
          <p:nvPr/>
        </p:nvSpPr>
        <p:spPr>
          <a:xfrm rot="-496083" flipH="1">
            <a:off x="6854752" y="-221728"/>
            <a:ext cx="6073623" cy="6095789"/>
          </a:xfrm>
          <a:custGeom>
            <a:avLst/>
            <a:gdLst/>
            <a:ahLst/>
            <a:cxnLst/>
            <a:rect l="l" t="t" r="r" b="b"/>
            <a:pathLst>
              <a:path w="6073623" h="6095789">
                <a:moveTo>
                  <a:pt x="6073623" y="0"/>
                </a:moveTo>
                <a:lnTo>
                  <a:pt x="0" y="0"/>
                </a:lnTo>
                <a:lnTo>
                  <a:pt x="0" y="6095790"/>
                </a:lnTo>
                <a:lnTo>
                  <a:pt x="6073623" y="6095790"/>
                </a:lnTo>
                <a:lnTo>
                  <a:pt x="6073623"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EEEA"/>
        </a:solidFill>
        <a:effectLst/>
      </p:bgPr>
    </p:bg>
    <p:spTree>
      <p:nvGrpSpPr>
        <p:cNvPr id="1" name=""/>
        <p:cNvGrpSpPr/>
        <p:nvPr/>
      </p:nvGrpSpPr>
      <p:grpSpPr>
        <a:xfrm>
          <a:off x="0" y="0"/>
          <a:ext cx="0" cy="0"/>
          <a:chOff x="0" y="0"/>
          <a:chExt cx="0" cy="0"/>
        </a:xfrm>
      </p:grpSpPr>
      <p:sp>
        <p:nvSpPr>
          <p:cNvPr id="2" name="Freeform 2"/>
          <p:cNvSpPr/>
          <p:nvPr/>
        </p:nvSpPr>
        <p:spPr>
          <a:xfrm>
            <a:off x="280591" y="1216026"/>
            <a:ext cx="9815354" cy="5608774"/>
          </a:xfrm>
          <a:custGeom>
            <a:avLst/>
            <a:gdLst/>
            <a:ahLst/>
            <a:cxnLst/>
            <a:rect l="l" t="t" r="r" b="b"/>
            <a:pathLst>
              <a:path w="9815354" h="5608774">
                <a:moveTo>
                  <a:pt x="0" y="0"/>
                </a:moveTo>
                <a:lnTo>
                  <a:pt x="9815355" y="0"/>
                </a:lnTo>
                <a:lnTo>
                  <a:pt x="9815355" y="5608774"/>
                </a:lnTo>
                <a:lnTo>
                  <a:pt x="0" y="560877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280591" y="190500"/>
            <a:ext cx="16978709" cy="1025526"/>
          </a:xfrm>
          <a:prstGeom prst="rect">
            <a:avLst/>
          </a:prstGeom>
        </p:spPr>
        <p:txBody>
          <a:bodyPr lIns="0" tIns="0" rIns="0" bIns="0" rtlCol="0" anchor="t">
            <a:spAutoFit/>
          </a:bodyPr>
          <a:lstStyle/>
          <a:p>
            <a:pPr marL="0" lvl="0" indent="0" algn="l">
              <a:lnSpc>
                <a:spcPts val="7600"/>
              </a:lnSpc>
            </a:pPr>
            <a:r>
              <a:rPr lang="en-US" sz="8000" b="1" spc="-520">
                <a:solidFill>
                  <a:srgbClr val="171717"/>
                </a:solidFill>
                <a:latin typeface="Garet Bold"/>
                <a:ea typeface="Garet Bold"/>
                <a:cs typeface="Garet Bold"/>
                <a:sym typeface="Garet Bold"/>
              </a:rPr>
              <a:t>Gestion des Catégories</a:t>
            </a:r>
          </a:p>
        </p:txBody>
      </p:sp>
      <p:sp>
        <p:nvSpPr>
          <p:cNvPr id="4" name="TextBox 4"/>
          <p:cNvSpPr txBox="1"/>
          <p:nvPr/>
        </p:nvSpPr>
        <p:spPr>
          <a:xfrm>
            <a:off x="10095946" y="1701724"/>
            <a:ext cx="7852172" cy="4194175"/>
          </a:xfrm>
          <a:prstGeom prst="rect">
            <a:avLst/>
          </a:prstGeom>
        </p:spPr>
        <p:txBody>
          <a:bodyPr lIns="0" tIns="0" rIns="0" bIns="0" rtlCol="0" anchor="t">
            <a:spAutoFit/>
          </a:bodyPr>
          <a:lstStyle/>
          <a:p>
            <a:pPr algn="ctr">
              <a:lnSpc>
                <a:spcPts val="5599"/>
              </a:lnSpc>
              <a:spcBef>
                <a:spcPct val="0"/>
              </a:spcBef>
            </a:pPr>
            <a:r>
              <a:rPr lang="en-US" sz="3999" b="1" spc="-259">
                <a:solidFill>
                  <a:srgbClr val="171717"/>
                </a:solidFill>
                <a:latin typeface="Garet Bold"/>
                <a:ea typeface="Garet Bold"/>
                <a:cs typeface="Garet Bold"/>
                <a:sym typeface="Garet Bold"/>
              </a:rPr>
              <a:t>Liste des catégories :</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Nom de la catégorie</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Description</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Nombre de produits associés</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Actions (Modifier, Supprimer)</a:t>
            </a:r>
          </a:p>
          <a:p>
            <a:pPr algn="ctr">
              <a:lnSpc>
                <a:spcPts val="5599"/>
              </a:lnSpc>
              <a:spcBef>
                <a:spcPct val="0"/>
              </a:spcBef>
            </a:pPr>
            <a:endParaRPr lang="en-US" sz="3999" b="1" spc="-259">
              <a:solidFill>
                <a:srgbClr val="171717"/>
              </a:solidFill>
              <a:latin typeface="Garet Bold"/>
              <a:ea typeface="Garet Bold"/>
              <a:cs typeface="Garet Bold"/>
              <a:sym typeface="Garet Bold"/>
            </a:endParaRPr>
          </a:p>
        </p:txBody>
      </p:sp>
      <p:sp>
        <p:nvSpPr>
          <p:cNvPr id="5" name="TextBox 5"/>
          <p:cNvSpPr txBox="1"/>
          <p:nvPr/>
        </p:nvSpPr>
        <p:spPr>
          <a:xfrm>
            <a:off x="10095946" y="5829224"/>
            <a:ext cx="7852172" cy="4194175"/>
          </a:xfrm>
          <a:prstGeom prst="rect">
            <a:avLst/>
          </a:prstGeom>
        </p:spPr>
        <p:txBody>
          <a:bodyPr lIns="0" tIns="0" rIns="0" bIns="0" rtlCol="0" anchor="t">
            <a:spAutoFit/>
          </a:bodyPr>
          <a:lstStyle/>
          <a:p>
            <a:pPr algn="ctr">
              <a:lnSpc>
                <a:spcPts val="5599"/>
              </a:lnSpc>
              <a:spcBef>
                <a:spcPct val="0"/>
              </a:spcBef>
            </a:pPr>
            <a:r>
              <a:rPr lang="en-US" sz="3999" b="1" spc="-259">
                <a:solidFill>
                  <a:srgbClr val="171717"/>
                </a:solidFill>
                <a:latin typeface="Garet Bold"/>
                <a:ea typeface="Garet Bold"/>
                <a:cs typeface="Garet Bold"/>
                <a:sym typeface="Garet Bold"/>
              </a:rPr>
              <a:t>Catégories prédéfinies :</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Électronique</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Mobilier</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Électroménager</a:t>
            </a:r>
          </a:p>
          <a:p>
            <a:pPr marL="863599" lvl="1" indent="-431800" algn="ctr">
              <a:lnSpc>
                <a:spcPts val="5599"/>
              </a:lnSpc>
              <a:spcBef>
                <a:spcPct val="0"/>
              </a:spcBef>
              <a:buFont typeface="Arial"/>
              <a:buChar char="•"/>
            </a:pPr>
            <a:r>
              <a:rPr lang="en-US" sz="3999" b="1" spc="-259">
                <a:solidFill>
                  <a:srgbClr val="171717"/>
                </a:solidFill>
                <a:latin typeface="Garet Bold"/>
                <a:ea typeface="Garet Bold"/>
                <a:cs typeface="Garet Bold"/>
                <a:sym typeface="Garet Bold"/>
              </a:rPr>
              <a:t>Fournitures</a:t>
            </a:r>
          </a:p>
          <a:p>
            <a:pPr algn="ctr">
              <a:lnSpc>
                <a:spcPts val="5599"/>
              </a:lnSpc>
              <a:spcBef>
                <a:spcPct val="0"/>
              </a:spcBef>
            </a:pPr>
            <a:endParaRPr lang="en-US" sz="3999" b="1" spc="-259">
              <a:solidFill>
                <a:srgbClr val="171717"/>
              </a:solidFill>
              <a:latin typeface="Garet Bold"/>
              <a:ea typeface="Garet Bold"/>
              <a:cs typeface="Garet Bold"/>
              <a:sym typeface="Garet Bold"/>
            </a:endParaRPr>
          </a:p>
        </p:txBody>
      </p:sp>
      <p:sp>
        <p:nvSpPr>
          <p:cNvPr id="6" name="Freeform 6"/>
          <p:cNvSpPr/>
          <p:nvPr/>
        </p:nvSpPr>
        <p:spPr>
          <a:xfrm rot="-489537">
            <a:off x="1117090" y="6311533"/>
            <a:ext cx="3553691" cy="4114800"/>
          </a:xfrm>
          <a:custGeom>
            <a:avLst/>
            <a:gdLst/>
            <a:ahLst/>
            <a:cxnLst/>
            <a:rect l="l" t="t" r="r" b="b"/>
            <a:pathLst>
              <a:path w="3553691" h="4114800">
                <a:moveTo>
                  <a:pt x="0" y="0"/>
                </a:moveTo>
                <a:lnTo>
                  <a:pt x="3553691" y="0"/>
                </a:lnTo>
                <a:lnTo>
                  <a:pt x="355369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187008">
            <a:off x="4855065" y="6635962"/>
            <a:ext cx="4545682" cy="3901022"/>
          </a:xfrm>
          <a:custGeom>
            <a:avLst/>
            <a:gdLst/>
            <a:ahLst/>
            <a:cxnLst/>
            <a:rect l="l" t="t" r="r" b="b"/>
            <a:pathLst>
              <a:path w="4545682" h="3901022">
                <a:moveTo>
                  <a:pt x="0" y="0"/>
                </a:moveTo>
                <a:lnTo>
                  <a:pt x="4545682" y="0"/>
                </a:lnTo>
                <a:lnTo>
                  <a:pt x="4545682" y="3901022"/>
                </a:lnTo>
                <a:lnTo>
                  <a:pt x="0" y="39010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4216161" y="5646827"/>
            <a:ext cx="4071839" cy="4071839"/>
          </a:xfrm>
          <a:custGeom>
            <a:avLst/>
            <a:gdLst/>
            <a:ahLst/>
            <a:cxnLst/>
            <a:rect l="l" t="t" r="r" b="b"/>
            <a:pathLst>
              <a:path w="4071839" h="4071839">
                <a:moveTo>
                  <a:pt x="0" y="0"/>
                </a:moveTo>
                <a:lnTo>
                  <a:pt x="4071839" y="0"/>
                </a:lnTo>
                <a:lnTo>
                  <a:pt x="4071839" y="4071839"/>
                </a:lnTo>
                <a:lnTo>
                  <a:pt x="0" y="40718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0971743" y="4565665"/>
            <a:ext cx="3725605" cy="3773633"/>
          </a:xfrm>
          <a:custGeom>
            <a:avLst/>
            <a:gdLst/>
            <a:ahLst/>
            <a:cxnLst/>
            <a:rect l="l" t="t" r="r" b="b"/>
            <a:pathLst>
              <a:path w="3725605" h="3773633">
                <a:moveTo>
                  <a:pt x="0" y="0"/>
                </a:moveTo>
                <a:lnTo>
                  <a:pt x="3725605" y="0"/>
                </a:lnTo>
                <a:lnTo>
                  <a:pt x="3725605" y="3773633"/>
                </a:lnTo>
                <a:lnTo>
                  <a:pt x="0" y="37736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6986741" y="0"/>
            <a:ext cx="11301259" cy="4181466"/>
          </a:xfrm>
          <a:custGeom>
            <a:avLst/>
            <a:gdLst/>
            <a:ahLst/>
            <a:cxnLst/>
            <a:rect l="l" t="t" r="r" b="b"/>
            <a:pathLst>
              <a:path w="11301259" h="4181466">
                <a:moveTo>
                  <a:pt x="0" y="0"/>
                </a:moveTo>
                <a:lnTo>
                  <a:pt x="11301259" y="0"/>
                </a:lnTo>
                <a:lnTo>
                  <a:pt x="11301259" y="4181466"/>
                </a:lnTo>
                <a:lnTo>
                  <a:pt x="0" y="4181466"/>
                </a:lnTo>
                <a:lnTo>
                  <a:pt x="0" y="0"/>
                </a:lnTo>
                <a:close/>
              </a:path>
            </a:pathLst>
          </a:custGeom>
          <a:blipFill>
            <a:blip r:embed="rId6"/>
            <a:stretch>
              <a:fillRect/>
            </a:stretch>
          </a:blipFill>
        </p:spPr>
        <p:txBody>
          <a:bodyPr/>
          <a:lstStyle/>
          <a:p>
            <a:endParaRPr lang="en-US"/>
          </a:p>
        </p:txBody>
      </p:sp>
      <p:sp>
        <p:nvSpPr>
          <p:cNvPr id="5" name="TextBox 5"/>
          <p:cNvSpPr txBox="1"/>
          <p:nvPr/>
        </p:nvSpPr>
        <p:spPr>
          <a:xfrm>
            <a:off x="335661" y="1123375"/>
            <a:ext cx="7796988" cy="2153790"/>
          </a:xfrm>
          <a:prstGeom prst="rect">
            <a:avLst/>
          </a:prstGeom>
        </p:spPr>
        <p:txBody>
          <a:bodyPr lIns="0" tIns="0" rIns="0" bIns="0" rtlCol="0" anchor="t">
            <a:spAutoFit/>
          </a:bodyPr>
          <a:lstStyle/>
          <a:p>
            <a:pPr marL="0" lvl="0" indent="0" algn="l">
              <a:lnSpc>
                <a:spcPts val="8294"/>
              </a:lnSpc>
              <a:spcBef>
                <a:spcPct val="0"/>
              </a:spcBef>
            </a:pPr>
            <a:r>
              <a:rPr lang="en-US" sz="8730" b="1" spc="-567">
                <a:solidFill>
                  <a:srgbClr val="F1EEEA"/>
                </a:solidFill>
                <a:latin typeface="Garet Bold"/>
                <a:ea typeface="Garet Bold"/>
                <a:cs typeface="Garet Bold"/>
                <a:sym typeface="Garet Bold"/>
              </a:rPr>
              <a:t>Ges</a:t>
            </a:r>
            <a:r>
              <a:rPr lang="en-US" sz="8730" b="1" u="none" strike="noStrike" spc="-567">
                <a:solidFill>
                  <a:srgbClr val="F1EEEA"/>
                </a:solidFill>
                <a:latin typeface="Garet Bold"/>
                <a:ea typeface="Garet Bold"/>
                <a:cs typeface="Garet Bold"/>
                <a:sym typeface="Garet Bold"/>
              </a:rPr>
              <a:t>tion des Entrepôts</a:t>
            </a:r>
          </a:p>
        </p:txBody>
      </p:sp>
      <p:sp>
        <p:nvSpPr>
          <p:cNvPr id="6" name="TextBox 6"/>
          <p:cNvSpPr txBox="1"/>
          <p:nvPr/>
        </p:nvSpPr>
        <p:spPr>
          <a:xfrm>
            <a:off x="335661" y="4114791"/>
            <a:ext cx="9819221" cy="5603875"/>
          </a:xfrm>
          <a:prstGeom prst="rect">
            <a:avLst/>
          </a:prstGeom>
        </p:spPr>
        <p:txBody>
          <a:bodyPr lIns="0" tIns="0" rIns="0" bIns="0" rtlCol="0" anchor="t">
            <a:spAutoFit/>
          </a:bodyPr>
          <a:lstStyle/>
          <a:p>
            <a:pPr algn="ctr">
              <a:lnSpc>
                <a:spcPts val="5599"/>
              </a:lnSpc>
              <a:spcBef>
                <a:spcPct val="0"/>
              </a:spcBef>
            </a:pPr>
            <a:r>
              <a:rPr lang="en-US" sz="3999" b="1" spc="-259">
                <a:solidFill>
                  <a:srgbClr val="F1EEEA"/>
                </a:solidFill>
                <a:latin typeface="Garet Bold"/>
                <a:ea typeface="Garet Bold"/>
                <a:cs typeface="Garet Bold"/>
                <a:sym typeface="Garet Bold"/>
              </a:rPr>
              <a:t>Informations des entrepôts</a:t>
            </a:r>
          </a:p>
          <a:p>
            <a:pPr marL="863599" lvl="1" indent="-431800" algn="ctr">
              <a:lnSpc>
                <a:spcPts val="5599"/>
              </a:lnSpc>
              <a:spcBef>
                <a:spcPct val="0"/>
              </a:spcBef>
              <a:buFont typeface="Arial"/>
              <a:buChar char="•"/>
            </a:pPr>
            <a:r>
              <a:rPr lang="en-US" sz="3999" b="1" spc="-259">
                <a:solidFill>
                  <a:srgbClr val="F1EEEA"/>
                </a:solidFill>
                <a:latin typeface="Garet Bold"/>
                <a:ea typeface="Garet Bold"/>
                <a:cs typeface="Garet Bold"/>
                <a:sym typeface="Garet Bold"/>
              </a:rPr>
              <a:t>Nom et adresse</a:t>
            </a:r>
          </a:p>
          <a:p>
            <a:pPr marL="863599" lvl="1" indent="-431800" algn="ctr">
              <a:lnSpc>
                <a:spcPts val="5599"/>
              </a:lnSpc>
              <a:spcBef>
                <a:spcPct val="0"/>
              </a:spcBef>
              <a:buFont typeface="Arial"/>
              <a:buChar char="•"/>
            </a:pPr>
            <a:r>
              <a:rPr lang="en-US" sz="3999" b="1" spc="-259">
                <a:solidFill>
                  <a:srgbClr val="F1EEEA"/>
                </a:solidFill>
                <a:latin typeface="Garet Bold"/>
                <a:ea typeface="Garet Bold"/>
                <a:cs typeface="Garet Bold"/>
                <a:sym typeface="Garet Bold"/>
              </a:rPr>
              <a:t>Capacité maximale</a:t>
            </a:r>
          </a:p>
          <a:p>
            <a:pPr marL="863599" lvl="1" indent="-431800" algn="ctr">
              <a:lnSpc>
                <a:spcPts val="5599"/>
              </a:lnSpc>
              <a:spcBef>
                <a:spcPct val="0"/>
              </a:spcBef>
              <a:buFont typeface="Arial"/>
              <a:buChar char="•"/>
            </a:pPr>
            <a:r>
              <a:rPr lang="en-US" sz="3999" b="1" spc="-259">
                <a:solidFill>
                  <a:srgbClr val="F1EEEA"/>
                </a:solidFill>
                <a:latin typeface="Garet Bold"/>
                <a:ea typeface="Garet Bold"/>
                <a:cs typeface="Garet Bold"/>
                <a:sym typeface="Garet Bold"/>
              </a:rPr>
              <a:t>Stock actuel</a:t>
            </a:r>
          </a:p>
          <a:p>
            <a:pPr marL="863599" lvl="1" indent="-431800" algn="ctr">
              <a:lnSpc>
                <a:spcPts val="5599"/>
              </a:lnSpc>
              <a:spcBef>
                <a:spcPct val="0"/>
              </a:spcBef>
              <a:buFont typeface="Arial"/>
              <a:buChar char="•"/>
            </a:pPr>
            <a:r>
              <a:rPr lang="en-US" sz="3999" b="1" spc="-259">
                <a:solidFill>
                  <a:srgbClr val="F1EEEA"/>
                </a:solidFill>
                <a:latin typeface="Garet Bold"/>
                <a:ea typeface="Garet Bold"/>
                <a:cs typeface="Garet Bold"/>
                <a:sym typeface="Garet Bold"/>
              </a:rPr>
              <a:t>Barre de progression visuelle du taux de remplissage</a:t>
            </a:r>
          </a:p>
          <a:p>
            <a:pPr marL="863599" lvl="1" indent="-431800" algn="ctr">
              <a:lnSpc>
                <a:spcPts val="5599"/>
              </a:lnSpc>
              <a:spcBef>
                <a:spcPct val="0"/>
              </a:spcBef>
              <a:buFont typeface="Arial"/>
              <a:buChar char="•"/>
            </a:pPr>
            <a:r>
              <a:rPr lang="en-US" sz="3999" b="1" spc="-259">
                <a:solidFill>
                  <a:srgbClr val="F1EEEA"/>
                </a:solidFill>
                <a:latin typeface="Garet Bold"/>
                <a:ea typeface="Garet Bold"/>
                <a:cs typeface="Garet Bold"/>
                <a:sym typeface="Garet Bold"/>
              </a:rPr>
              <a:t>Gestionnaire et contact</a:t>
            </a:r>
          </a:p>
          <a:p>
            <a:pPr algn="ctr">
              <a:lnSpc>
                <a:spcPts val="5599"/>
              </a:lnSpc>
              <a:spcBef>
                <a:spcPct val="0"/>
              </a:spcBef>
            </a:pPr>
            <a:endParaRPr lang="en-US" sz="3999" b="1" spc="-259">
              <a:solidFill>
                <a:srgbClr val="F1EEEA"/>
              </a:solidFill>
              <a:latin typeface="Garet Bold"/>
              <a:ea typeface="Garet Bold"/>
              <a:cs typeface="Garet Bold"/>
              <a:sym typeface="Garet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028700" y="6694376"/>
            <a:ext cx="6067399" cy="4114800"/>
          </a:xfrm>
          <a:custGeom>
            <a:avLst/>
            <a:gdLst/>
            <a:ahLst/>
            <a:cxnLst/>
            <a:rect l="l" t="t" r="r" b="b"/>
            <a:pathLst>
              <a:path w="6067399" h="4114800">
                <a:moveTo>
                  <a:pt x="0" y="0"/>
                </a:moveTo>
                <a:lnTo>
                  <a:pt x="6067399" y="0"/>
                </a:lnTo>
                <a:lnTo>
                  <a:pt x="606739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146295" y="6316365"/>
            <a:ext cx="7128037" cy="5883870"/>
          </a:xfrm>
          <a:custGeom>
            <a:avLst/>
            <a:gdLst/>
            <a:ahLst/>
            <a:cxnLst/>
            <a:rect l="l" t="t" r="r" b="b"/>
            <a:pathLst>
              <a:path w="7128037" h="5883870">
                <a:moveTo>
                  <a:pt x="0" y="0"/>
                </a:moveTo>
                <a:lnTo>
                  <a:pt x="7128037" y="0"/>
                </a:lnTo>
                <a:lnTo>
                  <a:pt x="7128037" y="5883870"/>
                </a:lnTo>
                <a:lnTo>
                  <a:pt x="0" y="5883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496083" flipH="1">
            <a:off x="15020556" y="1137741"/>
            <a:ext cx="6073623" cy="6095789"/>
          </a:xfrm>
          <a:custGeom>
            <a:avLst/>
            <a:gdLst/>
            <a:ahLst/>
            <a:cxnLst/>
            <a:rect l="l" t="t" r="r" b="b"/>
            <a:pathLst>
              <a:path w="6073623" h="6095789">
                <a:moveTo>
                  <a:pt x="6073623" y="0"/>
                </a:moveTo>
                <a:lnTo>
                  <a:pt x="0" y="0"/>
                </a:lnTo>
                <a:lnTo>
                  <a:pt x="0" y="6095790"/>
                </a:lnTo>
                <a:lnTo>
                  <a:pt x="6073623" y="6095790"/>
                </a:lnTo>
                <a:lnTo>
                  <a:pt x="6073623"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1028700" y="1856740"/>
            <a:ext cx="8930405" cy="1671721"/>
          </a:xfrm>
          <a:prstGeom prst="rect">
            <a:avLst/>
          </a:prstGeom>
        </p:spPr>
        <p:txBody>
          <a:bodyPr lIns="0" tIns="0" rIns="0" bIns="0" rtlCol="0" anchor="t">
            <a:spAutoFit/>
          </a:bodyPr>
          <a:lstStyle/>
          <a:p>
            <a:pPr marL="0" lvl="0" indent="0" algn="l">
              <a:lnSpc>
                <a:spcPts val="12399"/>
              </a:lnSpc>
              <a:spcBef>
                <a:spcPct val="0"/>
              </a:spcBef>
            </a:pPr>
            <a:r>
              <a:rPr lang="en-US" sz="13052" b="1" spc="-848">
                <a:solidFill>
                  <a:srgbClr val="F1EEEA"/>
                </a:solidFill>
                <a:latin typeface="Garet Bold"/>
                <a:ea typeface="Garet Bold"/>
                <a:cs typeface="Garet Bold"/>
                <a:sym typeface="Garet Bold"/>
              </a:rPr>
              <a:t>Conclusion</a:t>
            </a:r>
          </a:p>
        </p:txBody>
      </p:sp>
      <p:sp>
        <p:nvSpPr>
          <p:cNvPr id="6" name="TextBox 6"/>
          <p:cNvSpPr txBox="1"/>
          <p:nvPr/>
        </p:nvSpPr>
        <p:spPr>
          <a:xfrm>
            <a:off x="1028700" y="3639181"/>
            <a:ext cx="15405889" cy="3060700"/>
          </a:xfrm>
          <a:prstGeom prst="rect">
            <a:avLst/>
          </a:prstGeom>
        </p:spPr>
        <p:txBody>
          <a:bodyPr lIns="0" tIns="0" rIns="0" bIns="0" rtlCol="0" anchor="t">
            <a:spAutoFit/>
          </a:bodyPr>
          <a:lstStyle/>
          <a:p>
            <a:pPr algn="l">
              <a:lnSpc>
                <a:spcPts val="3500"/>
              </a:lnSpc>
            </a:pPr>
            <a:r>
              <a:rPr lang="en-US" sz="2500">
                <a:solidFill>
                  <a:srgbClr val="F1EEEA"/>
                </a:solidFill>
                <a:latin typeface="Inter"/>
                <a:ea typeface="Inter"/>
                <a:cs typeface="Inter"/>
                <a:sym typeface="Inter"/>
              </a:rPr>
              <a:t>DelivEX représente une nouvelle approche de la gestion de stock : simple, élégante et efficace. En combinant design moderne, technologies web avancées et expérience utilisateur optimale, ce système offre une solution professionnelle accessible à tous.</a:t>
            </a:r>
          </a:p>
          <a:p>
            <a:pPr algn="l">
              <a:lnSpc>
                <a:spcPts val="3500"/>
              </a:lnSpc>
              <a:spcBef>
                <a:spcPct val="0"/>
              </a:spcBef>
            </a:pPr>
            <a:r>
              <a:rPr lang="en-US" sz="2500">
                <a:solidFill>
                  <a:srgbClr val="F1EEEA"/>
                </a:solidFill>
                <a:latin typeface="Inter"/>
                <a:ea typeface="Inter"/>
                <a:cs typeface="Inter"/>
                <a:sym typeface="Inter"/>
              </a:rPr>
              <a:t>Que vous soyez un commerçant cherchant à mieux gérer son inventaire, un gestionnaire d'entrepôt souhaitant optimiser ses processus, ou une entreprise en croissance nécessitant un outil évolutif, DelivEX est conçu pour vous accompagner dans votre réussite.</a:t>
            </a:r>
          </a:p>
          <a:p>
            <a:pPr algn="l">
              <a:lnSpc>
                <a:spcPts val="3500"/>
              </a:lnSpc>
              <a:spcBef>
                <a:spcPct val="0"/>
              </a:spcBef>
            </a:pPr>
            <a:endParaRPr lang="en-US" sz="2500">
              <a:solidFill>
                <a:srgbClr val="F1EEEA"/>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EEA"/>
        </a:solidFill>
        <a:effectLst/>
      </p:bgPr>
    </p:bg>
    <p:spTree>
      <p:nvGrpSpPr>
        <p:cNvPr id="1" name=""/>
        <p:cNvGrpSpPr/>
        <p:nvPr/>
      </p:nvGrpSpPr>
      <p:grpSpPr>
        <a:xfrm>
          <a:off x="0" y="0"/>
          <a:ext cx="0" cy="0"/>
          <a:chOff x="0" y="0"/>
          <a:chExt cx="0" cy="0"/>
        </a:xfrm>
      </p:grpSpPr>
      <p:sp>
        <p:nvSpPr>
          <p:cNvPr id="2" name="Freeform 2"/>
          <p:cNvSpPr/>
          <p:nvPr/>
        </p:nvSpPr>
        <p:spPr>
          <a:xfrm rot="-187008">
            <a:off x="-590453" y="-1147766"/>
            <a:ext cx="7833523" cy="6722587"/>
          </a:xfrm>
          <a:custGeom>
            <a:avLst/>
            <a:gdLst/>
            <a:ahLst/>
            <a:cxnLst/>
            <a:rect l="l" t="t" r="r" b="b"/>
            <a:pathLst>
              <a:path w="7833523" h="6722587">
                <a:moveTo>
                  <a:pt x="0" y="0"/>
                </a:moveTo>
                <a:lnTo>
                  <a:pt x="7833523" y="0"/>
                </a:lnTo>
                <a:lnTo>
                  <a:pt x="7833523" y="6722587"/>
                </a:lnTo>
                <a:lnTo>
                  <a:pt x="0" y="67225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68767">
            <a:off x="12435764" y="1142571"/>
            <a:ext cx="4733681" cy="3778338"/>
          </a:xfrm>
          <a:custGeom>
            <a:avLst/>
            <a:gdLst/>
            <a:ahLst/>
            <a:cxnLst/>
            <a:rect l="l" t="t" r="r" b="b"/>
            <a:pathLst>
              <a:path w="4733681" h="3778338">
                <a:moveTo>
                  <a:pt x="0" y="0"/>
                </a:moveTo>
                <a:lnTo>
                  <a:pt x="4733681" y="0"/>
                </a:lnTo>
                <a:lnTo>
                  <a:pt x="4733681" y="3778339"/>
                </a:lnTo>
                <a:lnTo>
                  <a:pt x="0" y="377833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8220136" y="1028700"/>
            <a:ext cx="3326496" cy="3326496"/>
          </a:xfrm>
          <a:custGeom>
            <a:avLst/>
            <a:gdLst/>
            <a:ahLst/>
            <a:cxnLst/>
            <a:rect l="l" t="t" r="r" b="b"/>
            <a:pathLst>
              <a:path w="3326496" h="3326496">
                <a:moveTo>
                  <a:pt x="0" y="0"/>
                </a:moveTo>
                <a:lnTo>
                  <a:pt x="3326496" y="0"/>
                </a:lnTo>
                <a:lnTo>
                  <a:pt x="3326496" y="3326496"/>
                </a:lnTo>
                <a:lnTo>
                  <a:pt x="0" y="33264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19663" y="6039985"/>
            <a:ext cx="19527443" cy="1416051"/>
          </a:xfrm>
          <a:prstGeom prst="rect">
            <a:avLst/>
          </a:prstGeom>
        </p:spPr>
        <p:txBody>
          <a:bodyPr lIns="0" tIns="0" rIns="0" bIns="0" rtlCol="0" anchor="t">
            <a:spAutoFit/>
          </a:bodyPr>
          <a:lstStyle/>
          <a:p>
            <a:pPr marL="0" lvl="0" indent="0" algn="l">
              <a:lnSpc>
                <a:spcPts val="10450"/>
              </a:lnSpc>
            </a:pPr>
            <a:r>
              <a:rPr lang="en-US" sz="11000" b="1" spc="-715">
                <a:solidFill>
                  <a:srgbClr val="171717"/>
                </a:solidFill>
                <a:latin typeface="Garet Bold"/>
                <a:ea typeface="Garet Bold"/>
                <a:cs typeface="Garet Bold"/>
                <a:sym typeface="Garet Bold"/>
              </a:rPr>
              <a:t>Merci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547</Words>
  <Application>Microsoft Office PowerPoint</Application>
  <PresentationFormat>Custom</PresentationFormat>
  <Paragraphs>122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Inter Italics</vt:lpstr>
      <vt:lpstr>Arial</vt:lpstr>
      <vt:lpstr>Inter</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DelivEX représente une nouvelle approche de la gestion de stock : simple, élégante et efficace. En combinant design moderne, technologies web avancées et expérience utilisateur optimale, ce système offre une solution professionnelle accessible à tous. Que</dc:title>
  <cp:lastModifiedBy>nabil mahdi</cp:lastModifiedBy>
  <cp:revision>3</cp:revision>
  <dcterms:created xsi:type="dcterms:W3CDTF">2006-08-16T00:00:00Z</dcterms:created>
  <dcterms:modified xsi:type="dcterms:W3CDTF">2026-01-07T11:11:17Z</dcterms:modified>
  <dc:identifier>DAG9k1wjuNc</dc:identifier>
</cp:coreProperties>
</file>